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uammo" id="{9BD18E9B-B2C9-AD99-1B90-89E2FE9B4133}">
          <p14:sldIdLst>
            <p14:sldId id="256"/>
            <p14:sldId id="257"/>
            <p14:sldId id="258"/>
          </p14:sldIdLst>
        </p14:section>
        <p14:section name="Yechim" id="{CCDF542F-F79D-B599-3E57-B00A236DD58F}">
          <p14:sldIdLst>
            <p14:sldId id="259"/>
            <p14:sldId id="260"/>
            <p14:sldId id="261"/>
            <p14:sldId id="262"/>
          </p14:sldIdLst>
        </p14:section>
        <p14:section name="MVP" id="{544F3DDA-AFC0-1FE3-CDCE-B5216C4B7A50}">
          <p14:sldIdLst>
            <p14:sldId id="263"/>
            <p14:sldId id="264"/>
            <p14:sldId id="265"/>
          </p14:sldIdLst>
        </p14:section>
        <p14:section name="Joriy etish" id="{393AF1D8-0897-8531-DF56-2106D15F365E}">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9" d="100"/>
          <a:sy n="49" d="100"/>
        </p:scale>
        <p:origin x="42" y="5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pPr>
              <a:defRPr sz="1400" b="0" i="0" u="none" strike="noStrike">
                <a:solidFill>
                  <a:srgbClr val="9A6412"/>
                </a:solidFill>
                <a:latin typeface="+mn-lt"/>
              </a:defRPr>
            </a:pPr>
            <a:r>
              <a:rPr sz="1400" b="0" i="0" u="none" strike="noStrike">
                <a:solidFill>
                  <a:srgbClr val="9A6412"/>
                </a:solidFill>
                <a:latin typeface="+mn-lt"/>
              </a:rPr>
              <a:t>Yevropa Ittifoqiga to‘lov (CBAM sof), €</a:t>
            </a:r>
          </a:p>
        </c:rich>
      </c:tx>
      <c:overlay val="0"/>
    </c:title>
    <c:autoTitleDeleted val="0"/>
    <c:plotArea>
      <c:layout/>
      <c:barChart>
        <c:barDir val="bar"/>
        <c:grouping val="clustered"/>
        <c:varyColors val="0"/>
        <c:ser>
          <c:idx val="0"/>
          <c:order val="0"/>
          <c:tx>
            <c:strRef>
              <c:f>Sheet1!$B$1</c:f>
              <c:strCache>
                <c:ptCount val="1"/>
                <c:pt idx="0">
                  <c:v>Yevropa Ittifoqiga to‘lov (CBAM sof), €</c:v>
                </c:pt>
              </c:strCache>
            </c:strRef>
          </c:tx>
          <c:spPr>
            <a:solidFill>
              <a:srgbClr val="E3A64A"/>
            </a:solidFill>
            <a:effectLst/>
          </c:spPr>
          <c:invertIfNegative val="0"/>
          <c:dLbls>
            <c:numFmt formatCode="#,##0" sourceLinked="0"/>
            <c:spPr>
              <a:noFill/>
              <a:ln>
                <a:noFill/>
              </a:ln>
              <a:effectLst/>
            </c:spPr>
            <c:txPr>
              <a:bodyPr/>
              <a:lstStyle/>
              <a:p>
                <a:pPr>
                  <a:defRPr sz="1300" b="0" i="0" u="none" strike="noStrike">
                    <a:solidFill>
                      <a:srgbClr val="14241F"/>
                    </a:solidFill>
                    <a:latin typeface="+mn-lt"/>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0 (yo‘q)</c:v>
                </c:pt>
                <c:pt idx="1">
                  <c:v>41 200 (taklif)</c:v>
                </c:pt>
                <c:pt idx="2">
                  <c:v>82 400 (×2)</c:v>
                </c:pt>
                <c:pt idx="3">
                  <c:v>206 000 (×5)</c:v>
                </c:pt>
              </c:strCache>
            </c:strRef>
          </c:cat>
          <c:val>
            <c:numRef>
              <c:f>Sheet1!$B$2:$B$5</c:f>
              <c:numCache>
                <c:formatCode>General</c:formatCode>
                <c:ptCount val="4"/>
                <c:pt idx="0">
                  <c:v>265285</c:v>
                </c:pt>
                <c:pt idx="1">
                  <c:v>255235</c:v>
                </c:pt>
                <c:pt idx="2">
                  <c:v>245185</c:v>
                </c:pt>
                <c:pt idx="3">
                  <c:v>215034</c:v>
                </c:pt>
              </c:numCache>
            </c:numRef>
          </c:val>
          <c:extLst>
            <c:ext xmlns:c16="http://schemas.microsoft.com/office/drawing/2014/chart" uri="{C3380CC4-5D6E-409C-BE32-E72D297353CC}">
              <c16:uniqueId val="{00000000-5821-4DA5-ACF7-5D383C25F350}"/>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4241F"/>
                </a:solidFill>
                <a:latin typeface="+mn-lt"/>
              </a:defRPr>
            </a:pPr>
            <a:endParaRPr lang="ru-RU"/>
          </a:p>
        </c:txPr>
        <c:crossAx val="2094734552"/>
        <c:crosses val="autoZero"/>
        <c:auto val="1"/>
        <c:lblAlgn val="ctr"/>
        <c:lblOffset val="100"/>
        <c:noMultiLvlLbl val="1"/>
      </c:catAx>
      <c:valAx>
        <c:axId val="2094734552"/>
        <c:scaling>
          <c:orientation val="minMax"/>
          <c:max val="3200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4683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Assalomu alaykum. Bugun UzCarbon loyihasini taqdim etaman. Bu O‘zbekiston eksportyorlariga Yevropa Ittifoqining uglerod chegara mexanizmi — CBAM talablarini bajarishga va milliy uglerod narxi orqali to‘lovlarni mamlakat ichida qoldirishga yordam beradigan yagona raqamli platforma.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2026-yil 1-yanvardan CBAM o‘tish davridan to‘liq rejimga o‘tdi. Endi Yevropa Ittifoqiga sement, po‘lat, alyuminiy, o‘g‘it, vodorod va elektr energiyasi olib kiruvchilar tovardagi emissiyalar uchun sertifikat sotib oladi. Eng muhim sana — 2027-yil 30-sentabr: shu kungacha 2026-yildagi importlar bo‘yicha birinchi deklaratsiya topshiriladi. Bizning eksportyorlarimiz importyorga tekshirilgan ma’lumotni undan ancha oldin berishi kerak.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Ma’lumotga ega bo‘lmagan eksportyor ikki marta yo‘qotadi. Birinchidan, importyor standart qiymatdan foydalanadi va unga ustama qo‘shiladi. Ikkinchidan, O‘zbekistonda uglerod narxi bo‘lmasa, chegirish imkoniyatidan foydalanilmaydi va butun to‘lov Yevropa byudjetiga ketadi. Namuna sement zavodida bir chorakda farq qariyb 440 ming yevroni tashkil qiladi. Bu raqamlar shartli korxona ma’lumotlari asosida, parametrlar taxminiy.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UzCarbon to‘rtta vazifani bitta joyda hal qiladi. Birinchisi — emissiyalarni EU ETS va IPCC uslubiyotida hisoblash. Ikkinchisi — milliy uglerod narxini hisoblash va CBAM bo‘yicha chegirish uchun ma’lumot tayyorlash. Uchinchisi — sun’iy intellekt: ma’lumotdagi xatolarni topish, prognoz va tavsiyalar. To‘rtinchisi — importyor va verifikator uchun hisobotlar.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Ma’lumot oqimi oddiy. Korxona ma’lumotlari ERP, o‘lchov qurilmalari yoki hujjatlardan keladi. Sun’iy intellekt ularni tekshiradi va shubhali qiymatlarni belgilaydi. Hisoblash yadrosi xalqaro uslubiyot bo‘yicha emissiya va CBAM majburiyatini hisoblaydi. Verifikator tasdiqlaganidan keyin natija uch tomonga ketadi: xorijiy importyorga, Soliq qo‘mitasiga va davlat monitoring paneliga.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Platformaning ishonchliligi shaffoflikdan keladi. Har bir raqamning formulasi ekranda ko‘rinadi, shuning uchun verifikator hisobni qadamma-qadam tekshira oladi. Yoqish emissiyalari IPCC koeffitsiyentlari bilan, mahsulot birligidagi emissiya CBAM qoidalari bo‘yicha hisoblanadi. Sertifikatlar sonidan EU ETSdagi bepul kvotalar ulushi ayiriladi, sof xarajatdan esa O‘zbekistonda to‘langan uglerod narxi chegiriladi. MVPda uslubiyot soddalashtirilgan.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Platformada oltita sun’iy intellekt komponenti bor va har biri uchun qabul qilish mezoni belgilangan. Masalan, anomaliyalarni aniqlash sinov ma’lumotlarida xatolarning kamida 90 foizini topishi kerak. Muhim tamoyil: rasmiy hisobotga kiradigan raqamlarni sun’iy intellekt emas, tekshirib bo‘ladigan hisoblash yadrosi chiqaradi. AI yordamchi rolida.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tayyor va ishlaydi. Unda yettita bo‘lim bor: monitoring paneli, reyestr, ma’lumot kiritish, hisob-kitob, AI tahlil, hisobot va parametrlar. Loyiha Node.js da, tashqi kutubxonalarsiz yozilgan va 14 ta avtomatik test bilan tekshirilgan. Ekranda namuna ma’lumotlar: sement zavodidagi ataylab kiritilgan xatoni tizim avtomatik topgan.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Namuna ma’lumotlarda platforma nima berishini ko‘ramiz. Uchta shartli korxona olti oyda 1,4 million tonna CO₂ ekvivalent chiqargan. CBAM xarajati 1,32 million yevro. Agar ular haqiqiy ma’lumot o‘rniga standart qiymatdan foydalanganida, qariyb 2,9 million yevro ko‘proq to‘lashardi. Milliy uglerod narxi joriy etilsa, byudjetga 49,9 milliard so‘m tushadi. Bu raqamlar namunaviy, haqiqiy korxonalar emas.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slayd milliy uglerod narxining ta’sirini ko‘rsatadi. Namuna sement zavodida stavka nol bo‘lsa, Yevropa Ittifoqiga 265 ming yevro to‘lanadi. Taklif etilgan stavkada, ya’ni bazaviy hisoblash miqdorining 10 foizida, byudjetga chorakda 12,3 milliard so‘m tushadi va Yevropa Ittifoqiga to‘lov kamayadi. Lekin korxona uchun umumiy yuk oshadi, shuning uchun stavkani asta-sekin, oldindan e’lon qilingan jadval bo‘yicha oshirish kerak.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 xaritasi CBAM muddatlariga moslangan. Dekabrda tayyorgarlik va eksportyorlar so‘rovi, keyin ikki oy loyihalash. Mayga qadar sanoat MVP ishga tushadi, yozda 5–10 ta korxonada pilot o‘tkaziladi. Shunda eksportyorlar 30-sentabrdagi birinchi deklaratsiyaga tasdiqlangan ma’lumot bilan kiradi. Noyabrda to‘liq versiya, dekabrda qabul qilish.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Natijani o‘lchab boramiz. Maqsadlar: 2027-yil oxirigacha qamrovdagi barcha eksportyorlar platformada; 2028-yilda eksportning kamida 90 foizi tekshirilgan haqiqiy ma’lumot bilan; hisobot tayyorlash vaqti ikki baravar qisqaradi. Bundan tashqari, har yili chegirilgan summa va byudjetga tushum e’lon qilinadi.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Platforma alohida turmaydi, u qonunchilik takliflari bilan birga ishlaydi. Soliq kodeksiga uglerod solig‘i bobini kiritish taklif etilgan: boshlang‘ich stavka bazaviy hisoblash miqdorining 10 foizi. Shuningdek, ekologik to‘lovlarni Kodeksga o‘tkazish va “Green Building Material – Uzbekistan” milliy belgisini joriy etish. Har uchala holatda ham ma’lumot manbai — UzCarbon.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Loyihani boshlash uchun uchta qaror kerak. Birinchisi — dekabrgacha buyurtmachi va idoralararo ishchi guruhni belgilash. Ikkinchisi — pilot uchun sement, metallurgiya va o‘g‘it sohalaridan 5–10 ta korxonani tanlash. Uchinchisi — moliyalashtirish manbai. E’tiboringiz uchun rahmat, savollaringizga javob berishga tayyorman.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Z_LIGHT">
    <p:bg>
      <p:bgPr>
        <a:solidFill>
          <a:srgbClr val="F3F6F3"/>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rtlCol="0"/>
          <a:lstStyle>
            <a:lvl1pPr marL="0" indent="0">
              <a:buNone/>
              <a:defRPr lang="en-US" sz="1300" b="1" kern="0" spc="300" dirty="0">
                <a:solidFill>
                  <a:srgbClr val="0B7A5F"/>
                </a:solidFill>
                <a:latin typeface="Calibri" pitchFamily="34" charset="0"/>
                <a:ea typeface="Calibri" pitchFamily="34" charset="-122"/>
                <a:cs typeface="Calibri" pitchFamily="34" charset="-120"/>
              </a:defRPr>
            </a:lvl1pPr>
          </a:lstStyle>
          <a:p>
            <a:pPr marL="0" indent="0">
              <a:buNone/>
            </a:pP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rtlCol="0"/>
          <a:lstStyle>
            <a:lvl1pPr marL="0" indent="0" algn="l">
              <a:buNone/>
              <a:defRPr lang="en-US" sz="3200" b="1" dirty="0">
                <a:solidFill>
                  <a:srgbClr val="14241F"/>
                </a:solidFill>
                <a:latin typeface="Arial" pitchFamily="34" charset="0"/>
                <a:ea typeface="Arial" pitchFamily="34" charset="-122"/>
                <a:cs typeface="Arial"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C76"/>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Z_DARK">
    <p:bg>
      <p:bgPr>
        <a:solidFill>
          <a:srgbClr val="10201C"/>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rtlCol="0"/>
          <a:lstStyle>
            <a:lvl1pPr marL="0" indent="0">
              <a:buNone/>
              <a:defRPr lang="en-US" sz="1300" b="1" kern="0" spc="300" dirty="0">
                <a:solidFill>
                  <a:srgbClr val="2FB38F"/>
                </a:solidFill>
                <a:latin typeface="Calibri" pitchFamily="34" charset="0"/>
                <a:ea typeface="Calibri" pitchFamily="34" charset="-122"/>
                <a:cs typeface="Calibri" pitchFamily="34" charset="-120"/>
              </a:defRPr>
            </a:lvl1pPr>
          </a:lstStyle>
          <a:p>
            <a:pPr marL="0" indent="0">
              <a:buNone/>
            </a:pP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rtlCol="0"/>
          <a:lstStyle>
            <a:lvl1pPr marL="0" indent="0" algn="l">
              <a:buNone/>
              <a:defRPr lang="en-US" sz="3200" b="1" dirty="0">
                <a:solidFill>
                  <a:srgbClr val="EEF3EF"/>
                </a:solidFill>
                <a:latin typeface="Arial" pitchFamily="34" charset="0"/>
                <a:ea typeface="Arial" pitchFamily="34" charset="-122"/>
                <a:cs typeface="Arial"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F978F"/>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UZ_COVER">
    <p:bg>
      <p:bgPr>
        <a:solidFill>
          <a:srgbClr val="10201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C76"/>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Emissiya ustuni 1"/>
          <p:cNvSpPr/>
          <p:nvPr/>
        </p:nvSpPr>
        <p:spPr>
          <a:xfrm>
            <a:off x="7818120" y="1655064"/>
            <a:ext cx="457200" cy="3803904"/>
          </a:xfrm>
          <a:prstGeom prst="roundRect">
            <a:avLst>
              <a:gd name="adj" fmla="val 14000"/>
            </a:avLst>
          </a:prstGeom>
          <a:solidFill>
            <a:srgbClr val="2FB38F">
              <a:alpha val="95000"/>
            </a:srgbClr>
          </a:solidFill>
          <a:ln w="12700">
            <a:solidFill>
              <a:srgbClr val="2FB38F"/>
            </a:solidFill>
            <a:prstDash val="solid"/>
          </a:ln>
        </p:spPr>
      </p:sp>
      <p:sp>
        <p:nvSpPr>
          <p:cNvPr id="4" name="Emissiya ustuni 2"/>
          <p:cNvSpPr/>
          <p:nvPr/>
        </p:nvSpPr>
        <p:spPr>
          <a:xfrm>
            <a:off x="8428025" y="2286000"/>
            <a:ext cx="457200" cy="3172968"/>
          </a:xfrm>
          <a:prstGeom prst="roundRect">
            <a:avLst>
              <a:gd name="adj" fmla="val 14000"/>
            </a:avLst>
          </a:prstGeom>
          <a:solidFill>
            <a:srgbClr val="2FB38F">
              <a:alpha val="82000"/>
            </a:srgbClr>
          </a:solidFill>
          <a:ln w="12700">
            <a:solidFill>
              <a:srgbClr val="2FB38F"/>
            </a:solidFill>
            <a:prstDash val="solid"/>
          </a:ln>
        </p:spPr>
      </p:sp>
      <p:sp>
        <p:nvSpPr>
          <p:cNvPr id="5" name="Emissiya ustuni 3"/>
          <p:cNvSpPr/>
          <p:nvPr/>
        </p:nvSpPr>
        <p:spPr>
          <a:xfrm>
            <a:off x="9037930" y="2916936"/>
            <a:ext cx="457200" cy="2542032"/>
          </a:xfrm>
          <a:prstGeom prst="roundRect">
            <a:avLst>
              <a:gd name="adj" fmla="val 14000"/>
            </a:avLst>
          </a:prstGeom>
          <a:solidFill>
            <a:srgbClr val="2FB38F">
              <a:alpha val="69000"/>
            </a:srgbClr>
          </a:solidFill>
          <a:ln w="12700">
            <a:solidFill>
              <a:srgbClr val="2FB38F"/>
            </a:solidFill>
            <a:prstDash val="solid"/>
          </a:ln>
        </p:spPr>
      </p:sp>
      <p:sp>
        <p:nvSpPr>
          <p:cNvPr id="6" name="Emissiya ustuni 4"/>
          <p:cNvSpPr/>
          <p:nvPr/>
        </p:nvSpPr>
        <p:spPr>
          <a:xfrm>
            <a:off x="9647834" y="3557016"/>
            <a:ext cx="457200" cy="1901952"/>
          </a:xfrm>
          <a:prstGeom prst="roundRect">
            <a:avLst>
              <a:gd name="adj" fmla="val 14000"/>
            </a:avLst>
          </a:prstGeom>
          <a:solidFill>
            <a:srgbClr val="2FB38F">
              <a:alpha val="56000"/>
            </a:srgbClr>
          </a:solidFill>
          <a:ln w="12700">
            <a:solidFill>
              <a:srgbClr val="2FB38F"/>
            </a:solidFill>
            <a:prstDash val="solid"/>
          </a:ln>
        </p:spPr>
      </p:sp>
      <p:sp>
        <p:nvSpPr>
          <p:cNvPr id="7" name="Emissiya ustuni 5"/>
          <p:cNvSpPr/>
          <p:nvPr/>
        </p:nvSpPr>
        <p:spPr>
          <a:xfrm>
            <a:off x="10257739" y="4069080"/>
            <a:ext cx="457200" cy="1389888"/>
          </a:xfrm>
          <a:prstGeom prst="roundRect">
            <a:avLst>
              <a:gd name="adj" fmla="val 14000"/>
            </a:avLst>
          </a:prstGeom>
          <a:solidFill>
            <a:srgbClr val="2FB38F">
              <a:alpha val="43000"/>
            </a:srgbClr>
          </a:solidFill>
          <a:ln w="12700">
            <a:solidFill>
              <a:srgbClr val="2FB38F"/>
            </a:solidFill>
            <a:prstDash val="solid"/>
          </a:ln>
        </p:spPr>
      </p:sp>
      <p:sp>
        <p:nvSpPr>
          <p:cNvPr id="8" name="Emissiya ustuni 6"/>
          <p:cNvSpPr/>
          <p:nvPr/>
        </p:nvSpPr>
        <p:spPr>
          <a:xfrm>
            <a:off x="10867644" y="4507992"/>
            <a:ext cx="457200" cy="950976"/>
          </a:xfrm>
          <a:prstGeom prst="roundRect">
            <a:avLst>
              <a:gd name="adj" fmla="val 14000"/>
            </a:avLst>
          </a:prstGeom>
          <a:solidFill>
            <a:srgbClr val="E3A64A">
              <a:alpha val="90000"/>
            </a:srgbClr>
          </a:solidFill>
          <a:ln w="12700">
            <a:solidFill>
              <a:srgbClr val="E3A64A"/>
            </a:solidFill>
            <a:prstDash val="solid"/>
          </a:ln>
        </p:spPr>
      </p:sp>
      <p:sp>
        <p:nvSpPr>
          <p:cNvPr id="9" name="Text 6"/>
          <p:cNvSpPr txBox="1"/>
          <p:nvPr/>
        </p:nvSpPr>
        <p:spPr>
          <a:xfrm>
            <a:off x="813816" y="1600200"/>
            <a:ext cx="6400800" cy="365760"/>
          </a:xfrm>
          <a:prstGeom prst="rect">
            <a:avLst/>
          </a:prstGeom>
          <a:noFill/>
          <a:ln/>
        </p:spPr>
        <p:txBody>
          <a:bodyPr wrap="square" lIns="0" tIns="0" rIns="0" bIns="0" rtlCol="0" anchor="t"/>
          <a:lstStyle/>
          <a:p>
            <a:pPr marL="0" indent="0">
              <a:buNone/>
            </a:pPr>
            <a:r>
              <a:rPr lang="en-US" sz="1400" b="1" kern="0" spc="400" dirty="0">
                <a:solidFill>
                  <a:srgbClr val="2FB38F"/>
                </a:solidFill>
                <a:latin typeface="Calibri" pitchFamily="34" charset="0"/>
                <a:ea typeface="Calibri" pitchFamily="34" charset="-122"/>
                <a:cs typeface="Calibri" pitchFamily="34" charset="-120"/>
              </a:rPr>
              <a:t>CBAM · 2026 · O‘ZBEKISTON</a:t>
            </a:r>
            <a:endParaRPr lang="en-US" sz="1400" dirty="0"/>
          </a:p>
        </p:txBody>
      </p:sp>
      <p:sp>
        <p:nvSpPr>
          <p:cNvPr id="10" name="Text 7"/>
          <p:cNvSpPr txBox="1"/>
          <p:nvPr/>
        </p:nvSpPr>
        <p:spPr>
          <a:xfrm>
            <a:off x="813816" y="2057400"/>
            <a:ext cx="6858000" cy="1188720"/>
          </a:xfrm>
          <a:prstGeom prst="rect">
            <a:avLst/>
          </a:prstGeom>
          <a:noFill/>
          <a:ln/>
        </p:spPr>
        <p:txBody>
          <a:bodyPr wrap="square" lIns="0" tIns="0" rIns="0" bIns="0" rtlCol="0" anchor="ctr"/>
          <a:lstStyle/>
          <a:p>
            <a:pPr marL="0" indent="0">
              <a:buNone/>
            </a:pPr>
            <a:r>
              <a:rPr lang="en-US" sz="8000" b="1" dirty="0">
                <a:solidFill>
                  <a:srgbClr val="EEF3EF"/>
                </a:solidFill>
                <a:latin typeface="Arial" pitchFamily="34" charset="0"/>
                <a:ea typeface="Arial" pitchFamily="34" charset="-122"/>
                <a:cs typeface="Arial" pitchFamily="34" charset="-120"/>
              </a:rPr>
              <a:t>Uz</a:t>
            </a:r>
            <a:r>
              <a:rPr lang="en-US" sz="8000" b="1" dirty="0">
                <a:solidFill>
                  <a:srgbClr val="2FB38F"/>
                </a:solidFill>
                <a:latin typeface="Arial" pitchFamily="34" charset="0"/>
                <a:ea typeface="Arial" pitchFamily="34" charset="-122"/>
                <a:cs typeface="Arial" pitchFamily="34" charset="-120"/>
              </a:rPr>
              <a:t>Carbon</a:t>
            </a:r>
            <a:endParaRPr lang="en-US" sz="8000" dirty="0"/>
          </a:p>
        </p:txBody>
      </p:sp>
      <p:sp>
        <p:nvSpPr>
          <p:cNvPr id="11" name="Text 8"/>
          <p:cNvSpPr txBox="1"/>
          <p:nvPr/>
        </p:nvSpPr>
        <p:spPr>
          <a:xfrm>
            <a:off x="813816" y="3429000"/>
            <a:ext cx="6400800" cy="1371600"/>
          </a:xfrm>
          <a:prstGeom prst="rect">
            <a:avLst/>
          </a:prstGeom>
          <a:noFill/>
          <a:ln/>
        </p:spPr>
        <p:txBody>
          <a:bodyPr wrap="square" lIns="0" tIns="0" rIns="0" bIns="0" rtlCol="0" anchor="t"/>
          <a:lstStyle/>
          <a:p>
            <a:pPr marL="0" indent="0">
              <a:lnSpc>
                <a:spcPct val="110000"/>
              </a:lnSpc>
              <a:buNone/>
            </a:pPr>
            <a:r>
              <a:rPr lang="en-US" sz="2200" dirty="0">
                <a:solidFill>
                  <a:srgbClr val="C4D6CF"/>
                </a:solidFill>
                <a:latin typeface="Calibri" pitchFamily="34" charset="0"/>
                <a:ea typeface="Calibri" pitchFamily="34" charset="-122"/>
                <a:cs typeface="Calibri" pitchFamily="34" charset="-120"/>
              </a:rPr>
              <a:t>Eksportyorlar uchun emissiyalar, milliy uglerod narxi va CBAM xarajatini hisoblovchi sun’iy intellektga asoslangan yagona platforma</a:t>
            </a:r>
            <a:endParaRPr lang="en-US" sz="2200" dirty="0"/>
          </a:p>
        </p:txBody>
      </p:sp>
      <p:sp>
        <p:nvSpPr>
          <p:cNvPr id="12" name="Text 9"/>
          <p:cNvSpPr txBox="1"/>
          <p:nvPr/>
        </p:nvSpPr>
        <p:spPr>
          <a:xfrm>
            <a:off x="813816" y="6172200"/>
            <a:ext cx="5486400" cy="320040"/>
          </a:xfrm>
          <a:prstGeom prst="rect">
            <a:avLst/>
          </a:prstGeom>
          <a:noFill/>
          <a:ln/>
        </p:spPr>
        <p:txBody>
          <a:bodyPr wrap="square" lIns="0" tIns="0" rIns="0" bIns="0" rtlCol="0" anchor="t"/>
          <a:lstStyle/>
          <a:p>
            <a:pPr marL="0" indent="0">
              <a:buNone/>
            </a:pPr>
            <a:r>
              <a:rPr lang="en-US" sz="1300" dirty="0">
                <a:solidFill>
                  <a:srgbClr val="7F978F"/>
                </a:solidFill>
                <a:latin typeface="Calibri" pitchFamily="34" charset="0"/>
                <a:ea typeface="Calibri" pitchFamily="34" charset="-122"/>
                <a:cs typeface="Calibri" pitchFamily="34" charset="-120"/>
              </a:rPr>
              <a:t>Loyiha taqdimoti · Toshkent,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0B7A5F"/>
                </a:solidFill>
                <a:latin typeface="Calibri" pitchFamily="34" charset="0"/>
                <a:ea typeface="Calibri" pitchFamily="34" charset="-122"/>
                <a:cs typeface="Calibri" pitchFamily="34" charset="-120"/>
              </a:rPr>
              <a:t>MUAMMO</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14241F"/>
                </a:solidFill>
                <a:latin typeface="Arial" pitchFamily="34" charset="0"/>
                <a:ea typeface="Arial" pitchFamily="34" charset="-122"/>
                <a:cs typeface="Arial" pitchFamily="34" charset="-120"/>
              </a:rPr>
              <a:t>CBAM 2026-yildan to‘liq kuchga kirdi</a:t>
            </a:r>
            <a:endParaRPr lang="en-US" sz="3200" dirty="0"/>
          </a:p>
        </p:txBody>
      </p:sp>
      <p:sp>
        <p:nvSpPr>
          <p:cNvPr id="5" name="Sana kartasi 1"/>
          <p:cNvSpPr/>
          <p:nvPr/>
        </p:nvSpPr>
        <p:spPr>
          <a:xfrm>
            <a:off x="813816" y="2103120"/>
            <a:ext cx="3322320" cy="2148840"/>
          </a:xfrm>
          <a:prstGeom prst="roundRect">
            <a:avLst>
              <a:gd name="adj" fmla="val 5106"/>
            </a:avLst>
          </a:prstGeom>
          <a:solidFill>
            <a:srgbClr val="FFFFFF"/>
          </a:solidFill>
          <a:ln w="9525">
            <a:solidFill>
              <a:srgbClr val="D6E0DB"/>
            </a:solidFill>
            <a:prstDash val="solid"/>
          </a:ln>
        </p:spPr>
      </p:sp>
      <p:sp>
        <p:nvSpPr>
          <p:cNvPr id="6" name="Text 3"/>
          <p:cNvSpPr txBox="1"/>
          <p:nvPr/>
        </p:nvSpPr>
        <p:spPr>
          <a:xfrm>
            <a:off x="1088136" y="2331720"/>
            <a:ext cx="2773680" cy="548640"/>
          </a:xfrm>
          <a:prstGeom prst="rect">
            <a:avLst/>
          </a:prstGeom>
          <a:noFill/>
          <a:ln/>
        </p:spPr>
        <p:txBody>
          <a:bodyPr wrap="square" lIns="0" tIns="0" rIns="0" bIns="0" rtlCol="0" anchor="t"/>
          <a:lstStyle/>
          <a:p>
            <a:pPr marL="0" indent="0">
              <a:buNone/>
            </a:pPr>
            <a:r>
              <a:rPr lang="en-US" sz="2800" b="1" dirty="0">
                <a:solidFill>
                  <a:srgbClr val="0B7A5F"/>
                </a:solidFill>
                <a:latin typeface="Arial" pitchFamily="34" charset="0"/>
                <a:ea typeface="Arial" pitchFamily="34" charset="-122"/>
                <a:cs typeface="Arial" pitchFamily="34" charset="-120"/>
              </a:rPr>
              <a:t>01.01.2026</a:t>
            </a:r>
            <a:endParaRPr lang="en-US" sz="2800" dirty="0"/>
          </a:p>
        </p:txBody>
      </p:sp>
      <p:sp>
        <p:nvSpPr>
          <p:cNvPr id="7" name="Text 4"/>
          <p:cNvSpPr txBox="1"/>
          <p:nvPr/>
        </p:nvSpPr>
        <p:spPr>
          <a:xfrm>
            <a:off x="1088136" y="2971800"/>
            <a:ext cx="2773680" cy="1143000"/>
          </a:xfrm>
          <a:prstGeom prst="rect">
            <a:avLst/>
          </a:prstGeom>
          <a:noFill/>
          <a:ln/>
        </p:spPr>
        <p:txBody>
          <a:bodyPr wrap="square" lIns="0" tIns="0" rIns="0" bIns="0" rtlCol="0" anchor="t"/>
          <a:lstStyle/>
          <a:p>
            <a:pPr marL="0" indent="0">
              <a:lnSpc>
                <a:spcPct val="105000"/>
              </a:lnSpc>
              <a:buNone/>
            </a:pPr>
            <a:r>
              <a:rPr lang="en-US" sz="1600" dirty="0">
                <a:solidFill>
                  <a:srgbClr val="3E4F49"/>
                </a:solidFill>
                <a:latin typeface="Calibri" pitchFamily="34" charset="0"/>
                <a:ea typeface="Calibri" pitchFamily="34" charset="-122"/>
                <a:cs typeface="Calibri" pitchFamily="34" charset="-120"/>
              </a:rPr>
              <a:t>O‘tish davri tugadi: importyorlar endi CBAM sertifikatlari uchun to‘laydi</a:t>
            </a:r>
            <a:endParaRPr lang="en-US" sz="1600" dirty="0"/>
          </a:p>
        </p:txBody>
      </p:sp>
      <p:sp>
        <p:nvSpPr>
          <p:cNvPr id="8" name="Sana kartasi 2"/>
          <p:cNvSpPr/>
          <p:nvPr/>
        </p:nvSpPr>
        <p:spPr>
          <a:xfrm>
            <a:off x="4437888" y="2103120"/>
            <a:ext cx="3322320" cy="2148840"/>
          </a:xfrm>
          <a:prstGeom prst="roundRect">
            <a:avLst>
              <a:gd name="adj" fmla="val 5106"/>
            </a:avLst>
          </a:prstGeom>
          <a:solidFill>
            <a:srgbClr val="FFFFFF"/>
          </a:solidFill>
          <a:ln w="9525">
            <a:solidFill>
              <a:srgbClr val="D6E0DB"/>
            </a:solidFill>
            <a:prstDash val="solid"/>
          </a:ln>
        </p:spPr>
      </p:sp>
      <p:sp>
        <p:nvSpPr>
          <p:cNvPr id="9" name="Text 6"/>
          <p:cNvSpPr txBox="1"/>
          <p:nvPr/>
        </p:nvSpPr>
        <p:spPr>
          <a:xfrm>
            <a:off x="4712208" y="2331720"/>
            <a:ext cx="2773680" cy="548640"/>
          </a:xfrm>
          <a:prstGeom prst="rect">
            <a:avLst/>
          </a:prstGeom>
          <a:noFill/>
          <a:ln/>
        </p:spPr>
        <p:txBody>
          <a:bodyPr wrap="square" lIns="0" tIns="0" rIns="0" bIns="0" rtlCol="0" anchor="t"/>
          <a:lstStyle/>
          <a:p>
            <a:pPr marL="0" indent="0">
              <a:buNone/>
            </a:pPr>
            <a:r>
              <a:rPr lang="en-US" sz="2800" b="1" dirty="0">
                <a:solidFill>
                  <a:srgbClr val="0B7A5F"/>
                </a:solidFill>
                <a:latin typeface="Arial" pitchFamily="34" charset="0"/>
                <a:ea typeface="Arial" pitchFamily="34" charset="-122"/>
                <a:cs typeface="Arial" pitchFamily="34" charset="-120"/>
              </a:rPr>
              <a:t>01.02.2027</a:t>
            </a:r>
            <a:endParaRPr lang="en-US" sz="2800" dirty="0"/>
          </a:p>
        </p:txBody>
      </p:sp>
      <p:sp>
        <p:nvSpPr>
          <p:cNvPr id="10" name="Text 7"/>
          <p:cNvSpPr txBox="1"/>
          <p:nvPr/>
        </p:nvSpPr>
        <p:spPr>
          <a:xfrm>
            <a:off x="4712208" y="2971800"/>
            <a:ext cx="2773680" cy="1143000"/>
          </a:xfrm>
          <a:prstGeom prst="rect">
            <a:avLst/>
          </a:prstGeom>
          <a:noFill/>
          <a:ln/>
        </p:spPr>
        <p:txBody>
          <a:bodyPr wrap="square" lIns="0" tIns="0" rIns="0" bIns="0" rtlCol="0" anchor="t"/>
          <a:lstStyle/>
          <a:p>
            <a:pPr marL="0" indent="0">
              <a:lnSpc>
                <a:spcPct val="105000"/>
              </a:lnSpc>
              <a:buNone/>
            </a:pPr>
            <a:r>
              <a:rPr lang="en-US" sz="1600" dirty="0">
                <a:solidFill>
                  <a:srgbClr val="3E4F49"/>
                </a:solidFill>
                <a:latin typeface="Calibri" pitchFamily="34" charset="0"/>
                <a:ea typeface="Calibri" pitchFamily="34" charset="-122"/>
                <a:cs typeface="Calibri" pitchFamily="34" charset="-120"/>
              </a:rPr>
              <a:t>Sertifikatlar sotuvi boshlanadi, narxi EU ETS kvotasi narxiga bog‘langan</a:t>
            </a:r>
            <a:endParaRPr lang="en-US" sz="1600" dirty="0"/>
          </a:p>
        </p:txBody>
      </p:sp>
      <p:sp>
        <p:nvSpPr>
          <p:cNvPr id="11" name="Sana kartasi 3"/>
          <p:cNvSpPr/>
          <p:nvPr/>
        </p:nvSpPr>
        <p:spPr>
          <a:xfrm>
            <a:off x="8061960" y="2103120"/>
            <a:ext cx="3322320" cy="2148840"/>
          </a:xfrm>
          <a:prstGeom prst="roundRect">
            <a:avLst>
              <a:gd name="adj" fmla="val 5106"/>
            </a:avLst>
          </a:prstGeom>
          <a:solidFill>
            <a:srgbClr val="10201C"/>
          </a:solidFill>
          <a:ln w="12700">
            <a:solidFill>
              <a:srgbClr val="10201C"/>
            </a:solidFill>
            <a:prstDash val="solid"/>
          </a:ln>
        </p:spPr>
      </p:sp>
      <p:sp>
        <p:nvSpPr>
          <p:cNvPr id="12" name="Text 9"/>
          <p:cNvSpPr txBox="1"/>
          <p:nvPr/>
        </p:nvSpPr>
        <p:spPr>
          <a:xfrm>
            <a:off x="8336280" y="2331720"/>
            <a:ext cx="2773680" cy="548640"/>
          </a:xfrm>
          <a:prstGeom prst="rect">
            <a:avLst/>
          </a:prstGeom>
          <a:noFill/>
          <a:ln/>
        </p:spPr>
        <p:txBody>
          <a:bodyPr wrap="square" lIns="0" tIns="0" rIns="0" bIns="0" rtlCol="0" anchor="t"/>
          <a:lstStyle/>
          <a:p>
            <a:pPr marL="0" indent="0">
              <a:buNone/>
            </a:pPr>
            <a:r>
              <a:rPr lang="en-US" sz="2800" b="1" dirty="0">
                <a:solidFill>
                  <a:srgbClr val="E3A64A"/>
                </a:solidFill>
                <a:latin typeface="Arial" pitchFamily="34" charset="0"/>
                <a:ea typeface="Arial" pitchFamily="34" charset="-122"/>
                <a:cs typeface="Arial" pitchFamily="34" charset="-120"/>
              </a:rPr>
              <a:t>30.09.2027</a:t>
            </a:r>
            <a:endParaRPr lang="en-US" sz="2800" dirty="0"/>
          </a:p>
        </p:txBody>
      </p:sp>
      <p:sp>
        <p:nvSpPr>
          <p:cNvPr id="13" name="Text 10"/>
          <p:cNvSpPr txBox="1"/>
          <p:nvPr/>
        </p:nvSpPr>
        <p:spPr>
          <a:xfrm>
            <a:off x="8336280" y="2971800"/>
            <a:ext cx="2773680" cy="1143000"/>
          </a:xfrm>
          <a:prstGeom prst="rect">
            <a:avLst/>
          </a:prstGeom>
          <a:noFill/>
          <a:ln/>
        </p:spPr>
        <p:txBody>
          <a:bodyPr wrap="square" lIns="0" tIns="0" rIns="0" bIns="0" rtlCol="0" anchor="t"/>
          <a:lstStyle/>
          <a:p>
            <a:pPr marL="0" indent="0">
              <a:lnSpc>
                <a:spcPct val="105000"/>
              </a:lnSpc>
              <a:buNone/>
            </a:pPr>
            <a:r>
              <a:rPr lang="en-US" sz="1600" dirty="0">
                <a:solidFill>
                  <a:srgbClr val="C4D6CF"/>
                </a:solidFill>
                <a:latin typeface="Calibri" pitchFamily="34" charset="0"/>
                <a:ea typeface="Calibri" pitchFamily="34" charset="-122"/>
                <a:cs typeface="Calibri" pitchFamily="34" charset="-120"/>
              </a:rPr>
              <a:t>2026-yil eksporti bo‘yicha birinchi deklaratsiya va sertifikatlarni topshirish muddati</a:t>
            </a:r>
            <a:endParaRPr lang="en-US" sz="1600" dirty="0"/>
          </a:p>
        </p:txBody>
      </p:sp>
      <p:sp>
        <p:nvSpPr>
          <p:cNvPr id="14" name="Text 11"/>
          <p:cNvSpPr txBox="1"/>
          <p:nvPr/>
        </p:nvSpPr>
        <p:spPr>
          <a:xfrm>
            <a:off x="813816" y="4572000"/>
            <a:ext cx="3657600"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Qamrovdagi tovarlar</a:t>
            </a:r>
            <a:endParaRPr lang="en-US" sz="1300" dirty="0"/>
          </a:p>
        </p:txBody>
      </p:sp>
      <p:sp>
        <p:nvSpPr>
          <p:cNvPr id="15" name="Tovar 1"/>
          <p:cNvSpPr/>
          <p:nvPr/>
        </p:nvSpPr>
        <p:spPr>
          <a:xfrm>
            <a:off x="813816" y="4956048"/>
            <a:ext cx="1060704" cy="457200"/>
          </a:xfrm>
          <a:prstGeom prst="roundRect">
            <a:avLst>
              <a:gd name="adj" fmla="val 50000"/>
            </a:avLst>
          </a:prstGeom>
          <a:solidFill>
            <a:srgbClr val="E1ECE7"/>
          </a:solidFill>
          <a:ln w="12700">
            <a:solidFill>
              <a:srgbClr val="E1ECE7"/>
            </a:solidFill>
            <a:prstDash val="solid"/>
          </a:ln>
        </p:spPr>
      </p:sp>
      <p:sp>
        <p:nvSpPr>
          <p:cNvPr id="16" name="Text 13"/>
          <p:cNvSpPr txBox="1"/>
          <p:nvPr/>
        </p:nvSpPr>
        <p:spPr>
          <a:xfrm>
            <a:off x="813816" y="4956048"/>
            <a:ext cx="1060704" cy="457200"/>
          </a:xfrm>
          <a:prstGeom prst="rect">
            <a:avLst/>
          </a:prstGeom>
          <a:noFill/>
          <a:ln/>
        </p:spPr>
        <p:txBody>
          <a:bodyPr wrap="square" lIns="0" tIns="0" rIns="0" bIns="0" rtlCol="0" anchor="ctr"/>
          <a:lstStyle/>
          <a:p>
            <a:pPr marL="0" indent="0" algn="ctr">
              <a:buNone/>
            </a:pPr>
            <a:r>
              <a:rPr lang="en-US" sz="1500" b="1" dirty="0">
                <a:solidFill>
                  <a:srgbClr val="0B5E4A"/>
                </a:solidFill>
                <a:latin typeface="Calibri" pitchFamily="34" charset="0"/>
                <a:ea typeface="Calibri" pitchFamily="34" charset="-122"/>
                <a:cs typeface="Calibri" pitchFamily="34" charset="-120"/>
              </a:rPr>
              <a:t>Sement</a:t>
            </a:r>
            <a:endParaRPr lang="en-US" sz="1500" dirty="0"/>
          </a:p>
        </p:txBody>
      </p:sp>
      <p:sp>
        <p:nvSpPr>
          <p:cNvPr id="17" name="Tovar 2"/>
          <p:cNvSpPr/>
          <p:nvPr/>
        </p:nvSpPr>
        <p:spPr>
          <a:xfrm>
            <a:off x="2011680" y="4956048"/>
            <a:ext cx="1965960" cy="457200"/>
          </a:xfrm>
          <a:prstGeom prst="roundRect">
            <a:avLst>
              <a:gd name="adj" fmla="val 50000"/>
            </a:avLst>
          </a:prstGeom>
          <a:solidFill>
            <a:srgbClr val="E1ECE7"/>
          </a:solidFill>
          <a:ln w="12700">
            <a:solidFill>
              <a:srgbClr val="E1ECE7"/>
            </a:solidFill>
            <a:prstDash val="solid"/>
          </a:ln>
        </p:spPr>
      </p:sp>
      <p:sp>
        <p:nvSpPr>
          <p:cNvPr id="18" name="Text 15"/>
          <p:cNvSpPr txBox="1"/>
          <p:nvPr/>
        </p:nvSpPr>
        <p:spPr>
          <a:xfrm>
            <a:off x="2011680" y="4956048"/>
            <a:ext cx="1965960" cy="457200"/>
          </a:xfrm>
          <a:prstGeom prst="rect">
            <a:avLst/>
          </a:prstGeom>
          <a:noFill/>
          <a:ln/>
        </p:spPr>
        <p:txBody>
          <a:bodyPr wrap="square" lIns="0" tIns="0" rIns="0" bIns="0" rtlCol="0" anchor="ctr"/>
          <a:lstStyle/>
          <a:p>
            <a:pPr marL="0" indent="0" algn="ctr">
              <a:buNone/>
            </a:pPr>
            <a:r>
              <a:rPr lang="en-US" sz="1500" b="1" dirty="0">
                <a:solidFill>
                  <a:srgbClr val="0B5E4A"/>
                </a:solidFill>
                <a:latin typeface="Calibri" pitchFamily="34" charset="0"/>
                <a:ea typeface="Calibri" pitchFamily="34" charset="-122"/>
                <a:cs typeface="Calibri" pitchFamily="34" charset="-120"/>
              </a:rPr>
              <a:t>Temir va po‘lat</a:t>
            </a:r>
            <a:endParaRPr lang="en-US" sz="1500" dirty="0"/>
          </a:p>
        </p:txBody>
      </p:sp>
      <p:sp>
        <p:nvSpPr>
          <p:cNvPr id="19" name="Tovar 3"/>
          <p:cNvSpPr/>
          <p:nvPr/>
        </p:nvSpPr>
        <p:spPr>
          <a:xfrm>
            <a:off x="4114800" y="4956048"/>
            <a:ext cx="1362456" cy="457200"/>
          </a:xfrm>
          <a:prstGeom prst="roundRect">
            <a:avLst>
              <a:gd name="adj" fmla="val 50000"/>
            </a:avLst>
          </a:prstGeom>
          <a:solidFill>
            <a:srgbClr val="E1ECE7"/>
          </a:solidFill>
          <a:ln w="12700">
            <a:solidFill>
              <a:srgbClr val="E1ECE7"/>
            </a:solidFill>
            <a:prstDash val="solid"/>
          </a:ln>
        </p:spPr>
      </p:sp>
      <p:sp>
        <p:nvSpPr>
          <p:cNvPr id="20" name="Text 17"/>
          <p:cNvSpPr txBox="1"/>
          <p:nvPr/>
        </p:nvSpPr>
        <p:spPr>
          <a:xfrm>
            <a:off x="4114800" y="4956048"/>
            <a:ext cx="1362456" cy="457200"/>
          </a:xfrm>
          <a:prstGeom prst="rect">
            <a:avLst/>
          </a:prstGeom>
          <a:noFill/>
          <a:ln/>
        </p:spPr>
        <p:txBody>
          <a:bodyPr wrap="square" lIns="0" tIns="0" rIns="0" bIns="0" rtlCol="0" anchor="ctr"/>
          <a:lstStyle/>
          <a:p>
            <a:pPr marL="0" indent="0" algn="ctr">
              <a:buNone/>
            </a:pPr>
            <a:r>
              <a:rPr lang="en-US" sz="1500" b="1" dirty="0">
                <a:solidFill>
                  <a:srgbClr val="0B5E4A"/>
                </a:solidFill>
                <a:latin typeface="Calibri" pitchFamily="34" charset="0"/>
                <a:ea typeface="Calibri" pitchFamily="34" charset="-122"/>
                <a:cs typeface="Calibri" pitchFamily="34" charset="-120"/>
              </a:rPr>
              <a:t>Alyuminiy</a:t>
            </a:r>
            <a:endParaRPr lang="en-US" sz="1500" dirty="0"/>
          </a:p>
        </p:txBody>
      </p:sp>
      <p:sp>
        <p:nvSpPr>
          <p:cNvPr id="21" name="Tovar 4"/>
          <p:cNvSpPr/>
          <p:nvPr/>
        </p:nvSpPr>
        <p:spPr>
          <a:xfrm>
            <a:off x="5614416" y="4956048"/>
            <a:ext cx="1362456" cy="457200"/>
          </a:xfrm>
          <a:prstGeom prst="roundRect">
            <a:avLst>
              <a:gd name="adj" fmla="val 50000"/>
            </a:avLst>
          </a:prstGeom>
          <a:solidFill>
            <a:srgbClr val="E1ECE7"/>
          </a:solidFill>
          <a:ln w="12700">
            <a:solidFill>
              <a:srgbClr val="E1ECE7"/>
            </a:solidFill>
            <a:prstDash val="solid"/>
          </a:ln>
        </p:spPr>
      </p:sp>
      <p:sp>
        <p:nvSpPr>
          <p:cNvPr id="22" name="Text 19"/>
          <p:cNvSpPr txBox="1"/>
          <p:nvPr/>
        </p:nvSpPr>
        <p:spPr>
          <a:xfrm>
            <a:off x="5614416" y="4956048"/>
            <a:ext cx="1362456" cy="457200"/>
          </a:xfrm>
          <a:prstGeom prst="rect">
            <a:avLst/>
          </a:prstGeom>
          <a:noFill/>
          <a:ln/>
        </p:spPr>
        <p:txBody>
          <a:bodyPr wrap="square" lIns="0" tIns="0" rIns="0" bIns="0" rtlCol="0" anchor="ctr"/>
          <a:lstStyle/>
          <a:p>
            <a:pPr marL="0" indent="0" algn="ctr">
              <a:buNone/>
            </a:pPr>
            <a:r>
              <a:rPr lang="en-US" sz="1500" b="1" dirty="0">
                <a:solidFill>
                  <a:srgbClr val="0B5E4A"/>
                </a:solidFill>
                <a:latin typeface="Calibri" pitchFamily="34" charset="0"/>
                <a:ea typeface="Calibri" pitchFamily="34" charset="-122"/>
                <a:cs typeface="Calibri" pitchFamily="34" charset="-120"/>
              </a:rPr>
              <a:t>O‘g‘itlar</a:t>
            </a:r>
            <a:endParaRPr lang="en-US" sz="1500" dirty="0"/>
          </a:p>
        </p:txBody>
      </p:sp>
      <p:sp>
        <p:nvSpPr>
          <p:cNvPr id="23" name="Tovar 5"/>
          <p:cNvSpPr/>
          <p:nvPr/>
        </p:nvSpPr>
        <p:spPr>
          <a:xfrm>
            <a:off x="7114032" y="4956048"/>
            <a:ext cx="1161288" cy="457200"/>
          </a:xfrm>
          <a:prstGeom prst="roundRect">
            <a:avLst>
              <a:gd name="adj" fmla="val 50000"/>
            </a:avLst>
          </a:prstGeom>
          <a:solidFill>
            <a:srgbClr val="E1ECE7"/>
          </a:solidFill>
          <a:ln w="12700">
            <a:solidFill>
              <a:srgbClr val="E1ECE7"/>
            </a:solidFill>
            <a:prstDash val="solid"/>
          </a:ln>
        </p:spPr>
      </p:sp>
      <p:sp>
        <p:nvSpPr>
          <p:cNvPr id="24" name="Text 21"/>
          <p:cNvSpPr txBox="1"/>
          <p:nvPr/>
        </p:nvSpPr>
        <p:spPr>
          <a:xfrm>
            <a:off x="7114032" y="4956048"/>
            <a:ext cx="1161288" cy="457200"/>
          </a:xfrm>
          <a:prstGeom prst="rect">
            <a:avLst/>
          </a:prstGeom>
          <a:noFill/>
          <a:ln/>
        </p:spPr>
        <p:txBody>
          <a:bodyPr wrap="square" lIns="0" tIns="0" rIns="0" bIns="0" rtlCol="0" anchor="ctr"/>
          <a:lstStyle/>
          <a:p>
            <a:pPr marL="0" indent="0" algn="ctr">
              <a:buNone/>
            </a:pPr>
            <a:r>
              <a:rPr lang="en-US" sz="1500" b="1" dirty="0">
                <a:solidFill>
                  <a:srgbClr val="0B5E4A"/>
                </a:solidFill>
                <a:latin typeface="Calibri" pitchFamily="34" charset="0"/>
                <a:ea typeface="Calibri" pitchFamily="34" charset="-122"/>
                <a:cs typeface="Calibri" pitchFamily="34" charset="-120"/>
              </a:rPr>
              <a:t>Vodorod</a:t>
            </a:r>
            <a:endParaRPr lang="en-US" sz="1500" dirty="0"/>
          </a:p>
        </p:txBody>
      </p:sp>
      <p:sp>
        <p:nvSpPr>
          <p:cNvPr id="25" name="Tovar 6"/>
          <p:cNvSpPr/>
          <p:nvPr/>
        </p:nvSpPr>
        <p:spPr>
          <a:xfrm>
            <a:off x="8412480" y="4956048"/>
            <a:ext cx="2167128" cy="457200"/>
          </a:xfrm>
          <a:prstGeom prst="roundRect">
            <a:avLst>
              <a:gd name="adj" fmla="val 50000"/>
            </a:avLst>
          </a:prstGeom>
          <a:solidFill>
            <a:srgbClr val="E1ECE7"/>
          </a:solidFill>
          <a:ln w="12700">
            <a:solidFill>
              <a:srgbClr val="E1ECE7"/>
            </a:solidFill>
            <a:prstDash val="solid"/>
          </a:ln>
        </p:spPr>
      </p:sp>
      <p:sp>
        <p:nvSpPr>
          <p:cNvPr id="26" name="Text 23"/>
          <p:cNvSpPr txBox="1"/>
          <p:nvPr/>
        </p:nvSpPr>
        <p:spPr>
          <a:xfrm>
            <a:off x="8412480" y="4956048"/>
            <a:ext cx="2167128" cy="457200"/>
          </a:xfrm>
          <a:prstGeom prst="rect">
            <a:avLst/>
          </a:prstGeom>
          <a:noFill/>
          <a:ln/>
        </p:spPr>
        <p:txBody>
          <a:bodyPr wrap="square" lIns="0" tIns="0" rIns="0" bIns="0" rtlCol="0" anchor="ctr"/>
          <a:lstStyle/>
          <a:p>
            <a:pPr marL="0" indent="0" algn="ctr">
              <a:buNone/>
            </a:pPr>
            <a:r>
              <a:rPr lang="en-US" sz="1500" b="1" dirty="0">
                <a:solidFill>
                  <a:srgbClr val="0B5E4A"/>
                </a:solidFill>
                <a:latin typeface="Calibri" pitchFamily="34" charset="0"/>
                <a:ea typeface="Calibri" pitchFamily="34" charset="-122"/>
                <a:cs typeface="Calibri" pitchFamily="34" charset="-120"/>
              </a:rPr>
              <a:t>Elektr energiyasi</a:t>
            </a:r>
            <a:endParaRPr lang="en-US" sz="1500" dirty="0"/>
          </a:p>
        </p:txBody>
      </p:sp>
      <p:sp>
        <p:nvSpPr>
          <p:cNvPr id="27" name="Izoh"/>
          <p:cNvSpPr txBox="1"/>
          <p:nvPr/>
        </p:nvSpPr>
        <p:spPr>
          <a:xfrm>
            <a:off x="813816" y="6355080"/>
            <a:ext cx="9875520" cy="274320"/>
          </a:xfrm>
          <a:prstGeom prst="rect">
            <a:avLst/>
          </a:prstGeom>
          <a:noFill/>
          <a:ln/>
        </p:spPr>
        <p:txBody>
          <a:bodyPr wrap="square" lIns="0" tIns="0" rIns="0" bIns="0" rtlCol="0" anchor="ctr"/>
          <a:lstStyle/>
          <a:p>
            <a:pPr marL="0" indent="0">
              <a:buNone/>
            </a:pPr>
            <a:r>
              <a:rPr lang="en-US" sz="1100" dirty="0">
                <a:solidFill>
                  <a:srgbClr val="6B7C76"/>
                </a:solidFill>
                <a:latin typeface="Calibri" pitchFamily="34" charset="0"/>
                <a:ea typeface="Calibri" pitchFamily="34" charset="-122"/>
                <a:cs typeface="Calibri" pitchFamily="34" charset="-120"/>
              </a:rPr>
              <a:t>Manba: Yevropa Ittifoqining 2023/956-son CBAM Reglamenti va 2026-yildan amal qiluvchi amalga oshirish aktlari</a:t>
            </a:r>
            <a:endParaRPr lang="en-US" sz="1100" dirty="0"/>
          </a:p>
        </p:txBody>
      </p:sp>
      <p:sp>
        <p:nvSpPr>
          <p:cNvPr id="4"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C76"/>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2FB38F"/>
                </a:solidFill>
                <a:latin typeface="Calibri" pitchFamily="34" charset="0"/>
                <a:ea typeface="Calibri" pitchFamily="34" charset="-122"/>
                <a:cs typeface="Calibri" pitchFamily="34" charset="-120"/>
              </a:rPr>
              <a:t>NIMA XAVF OSTIDA</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EEF3EF"/>
                </a:solidFill>
                <a:latin typeface="Arial" pitchFamily="34" charset="0"/>
                <a:ea typeface="Arial" pitchFamily="34" charset="-122"/>
                <a:cs typeface="Arial" pitchFamily="34" charset="-120"/>
              </a:rPr>
              <a:t>Ma’lumoti yo‘q eksportyor ikki marta yo‘qotadi</a:t>
            </a:r>
            <a:endParaRPr lang="en-US" sz="3200" dirty="0"/>
          </a:p>
        </p:txBody>
      </p:sp>
      <p:sp>
        <p:nvSpPr>
          <p:cNvPr id="5" name="Text 2"/>
          <p:cNvSpPr txBox="1"/>
          <p:nvPr/>
        </p:nvSpPr>
        <p:spPr>
          <a:xfrm>
            <a:off x="813816" y="2011680"/>
            <a:ext cx="914400" cy="320040"/>
          </a:xfrm>
          <a:prstGeom prst="rect">
            <a:avLst/>
          </a:prstGeom>
          <a:noFill/>
          <a:ln/>
        </p:spPr>
        <p:txBody>
          <a:bodyPr wrap="square" lIns="0" tIns="0" rIns="0" bIns="0" rtlCol="0" anchor="t"/>
          <a:lstStyle/>
          <a:p>
            <a:pPr marL="0" indent="0">
              <a:buNone/>
            </a:pPr>
            <a:r>
              <a:rPr lang="en-US" sz="1500" b="1" dirty="0">
                <a:solidFill>
                  <a:srgbClr val="E3A64A"/>
                </a:solidFill>
                <a:latin typeface="Courier New" pitchFamily="34" charset="0"/>
                <a:ea typeface="Courier New" pitchFamily="34" charset="-122"/>
                <a:cs typeface="Courier New" pitchFamily="34" charset="-120"/>
              </a:rPr>
              <a:t>01</a:t>
            </a:r>
            <a:endParaRPr lang="en-US" sz="1500" dirty="0"/>
          </a:p>
        </p:txBody>
      </p:sp>
      <p:sp>
        <p:nvSpPr>
          <p:cNvPr id="6" name="Text 3"/>
          <p:cNvSpPr txBox="1"/>
          <p:nvPr/>
        </p:nvSpPr>
        <p:spPr>
          <a:xfrm>
            <a:off x="813816" y="2377440"/>
            <a:ext cx="4873752" cy="457200"/>
          </a:xfrm>
          <a:prstGeom prst="rect">
            <a:avLst/>
          </a:prstGeom>
          <a:noFill/>
          <a:ln/>
        </p:spPr>
        <p:txBody>
          <a:bodyPr wrap="square" lIns="0" tIns="0" rIns="0" bIns="0" rtlCol="0" anchor="t"/>
          <a:lstStyle/>
          <a:p>
            <a:pPr marL="0" indent="0">
              <a:buNone/>
            </a:pPr>
            <a:r>
              <a:rPr lang="en-US" sz="2200" b="1" dirty="0">
                <a:solidFill>
                  <a:srgbClr val="EEF3EF"/>
                </a:solidFill>
                <a:latin typeface="Calibri" pitchFamily="34" charset="0"/>
                <a:ea typeface="Calibri" pitchFamily="34" charset="-122"/>
                <a:cs typeface="Calibri" pitchFamily="34" charset="-120"/>
              </a:rPr>
              <a:t>Standart qiymat va ustama</a:t>
            </a:r>
            <a:endParaRPr lang="en-US" sz="2200" dirty="0"/>
          </a:p>
        </p:txBody>
      </p:sp>
      <p:sp>
        <p:nvSpPr>
          <p:cNvPr id="7" name="Text 4"/>
          <p:cNvSpPr txBox="1"/>
          <p:nvPr/>
        </p:nvSpPr>
        <p:spPr>
          <a:xfrm>
            <a:off x="813816" y="2880360"/>
            <a:ext cx="4873752" cy="1325880"/>
          </a:xfrm>
          <a:prstGeom prst="rect">
            <a:avLst/>
          </a:prstGeom>
          <a:noFill/>
          <a:ln/>
        </p:spPr>
        <p:txBody>
          <a:bodyPr wrap="square" lIns="0" tIns="0" rIns="0" bIns="0" rtlCol="0" anchor="t"/>
          <a:lstStyle/>
          <a:p>
            <a:pPr marL="0" indent="0">
              <a:lnSpc>
                <a:spcPct val="110000"/>
              </a:lnSpc>
              <a:buNone/>
            </a:pPr>
            <a:r>
              <a:rPr lang="en-US" sz="1600" dirty="0">
                <a:solidFill>
                  <a:srgbClr val="B9CCC5"/>
                </a:solidFill>
                <a:latin typeface="Calibri" pitchFamily="34" charset="0"/>
                <a:ea typeface="Calibri" pitchFamily="34" charset="-122"/>
                <a:cs typeface="Calibri" pitchFamily="34" charset="-120"/>
              </a:rPr>
              <a:t>Tekshirilgan haqiqiy ma’lumot bo‘lmasa, importyor Yevropa Komissiyasining standart qiymatini oladi. Unga har yili oshib boruvchi ustama qo‘shiladi va mahsulot qimmatlashadi.</a:t>
            </a:r>
            <a:endParaRPr lang="en-US" sz="1600" dirty="0"/>
          </a:p>
        </p:txBody>
      </p:sp>
      <p:sp>
        <p:nvSpPr>
          <p:cNvPr id="8" name="Text 5"/>
          <p:cNvSpPr txBox="1"/>
          <p:nvPr/>
        </p:nvSpPr>
        <p:spPr>
          <a:xfrm>
            <a:off x="6510528" y="2011680"/>
            <a:ext cx="914400" cy="320040"/>
          </a:xfrm>
          <a:prstGeom prst="rect">
            <a:avLst/>
          </a:prstGeom>
          <a:noFill/>
          <a:ln/>
        </p:spPr>
        <p:txBody>
          <a:bodyPr wrap="square" lIns="0" tIns="0" rIns="0" bIns="0" rtlCol="0" anchor="t"/>
          <a:lstStyle/>
          <a:p>
            <a:pPr marL="0" indent="0">
              <a:buNone/>
            </a:pPr>
            <a:r>
              <a:rPr lang="en-US" sz="1500" b="1" dirty="0">
                <a:solidFill>
                  <a:srgbClr val="E3A64A"/>
                </a:solidFill>
                <a:latin typeface="Courier New" pitchFamily="34" charset="0"/>
                <a:ea typeface="Courier New" pitchFamily="34" charset="-122"/>
                <a:cs typeface="Courier New" pitchFamily="34" charset="-120"/>
              </a:rPr>
              <a:t>02</a:t>
            </a:r>
            <a:endParaRPr lang="en-US" sz="1500" dirty="0"/>
          </a:p>
        </p:txBody>
      </p:sp>
      <p:sp>
        <p:nvSpPr>
          <p:cNvPr id="9" name="Text 6"/>
          <p:cNvSpPr txBox="1"/>
          <p:nvPr/>
        </p:nvSpPr>
        <p:spPr>
          <a:xfrm>
            <a:off x="6510528" y="2377440"/>
            <a:ext cx="4873752" cy="457200"/>
          </a:xfrm>
          <a:prstGeom prst="rect">
            <a:avLst/>
          </a:prstGeom>
          <a:noFill/>
          <a:ln/>
        </p:spPr>
        <p:txBody>
          <a:bodyPr wrap="square" lIns="0" tIns="0" rIns="0" bIns="0" rtlCol="0" anchor="t"/>
          <a:lstStyle/>
          <a:p>
            <a:pPr marL="0" indent="0">
              <a:buNone/>
            </a:pPr>
            <a:r>
              <a:rPr lang="en-US" sz="2200" b="1" dirty="0">
                <a:solidFill>
                  <a:srgbClr val="EEF3EF"/>
                </a:solidFill>
                <a:latin typeface="Calibri" pitchFamily="34" charset="0"/>
                <a:ea typeface="Calibri" pitchFamily="34" charset="-122"/>
                <a:cs typeface="Calibri" pitchFamily="34" charset="-120"/>
              </a:rPr>
              <a:t>Pul Yevropa byudjetiga ketadi</a:t>
            </a:r>
            <a:endParaRPr lang="en-US" sz="2200" dirty="0"/>
          </a:p>
        </p:txBody>
      </p:sp>
      <p:sp>
        <p:nvSpPr>
          <p:cNvPr id="10" name="Text 7"/>
          <p:cNvSpPr txBox="1"/>
          <p:nvPr/>
        </p:nvSpPr>
        <p:spPr>
          <a:xfrm>
            <a:off x="6510528" y="2880360"/>
            <a:ext cx="4873752" cy="1325880"/>
          </a:xfrm>
          <a:prstGeom prst="rect">
            <a:avLst/>
          </a:prstGeom>
          <a:noFill/>
          <a:ln/>
        </p:spPr>
        <p:txBody>
          <a:bodyPr wrap="square" lIns="0" tIns="0" rIns="0" bIns="0" rtlCol="0" anchor="t"/>
          <a:lstStyle/>
          <a:p>
            <a:pPr marL="0" indent="0">
              <a:lnSpc>
                <a:spcPct val="110000"/>
              </a:lnSpc>
              <a:buNone/>
            </a:pPr>
            <a:r>
              <a:rPr lang="en-US" sz="1600" dirty="0">
                <a:solidFill>
                  <a:srgbClr val="B9CCC5"/>
                </a:solidFill>
                <a:latin typeface="Calibri" pitchFamily="34" charset="0"/>
                <a:ea typeface="Calibri" pitchFamily="34" charset="-122"/>
                <a:cs typeface="Calibri" pitchFamily="34" charset="-120"/>
              </a:rPr>
              <a:t>Kelib chiqqan mamlakatda to‘langan uglerod narxi CBAM to‘lovidan chegiriladi. O‘zbekistonda milliy narx bo‘lmasa, to‘lovning hammasi Yevropada qoladi.</a:t>
            </a:r>
            <a:endParaRPr lang="en-US" sz="1600" dirty="0"/>
          </a:p>
        </p:txBody>
      </p:sp>
      <p:sp>
        <p:nvSpPr>
          <p:cNvPr id="11" name="Ajratgich"/>
          <p:cNvSpPr/>
          <p:nvPr/>
        </p:nvSpPr>
        <p:spPr>
          <a:xfrm>
            <a:off x="6099048" y="2057400"/>
            <a:ext cx="0" cy="2103120"/>
          </a:xfrm>
          <a:prstGeom prst="line">
            <a:avLst/>
          </a:prstGeom>
          <a:noFill/>
          <a:ln w="12700">
            <a:solidFill>
              <a:srgbClr val="2E4A42"/>
            </a:solidFill>
            <a:prstDash val="solid"/>
          </a:ln>
        </p:spPr>
      </p:sp>
      <p:sp>
        <p:nvSpPr>
          <p:cNvPr id="12" name="Namuna bloki"/>
          <p:cNvSpPr/>
          <p:nvPr/>
        </p:nvSpPr>
        <p:spPr>
          <a:xfrm>
            <a:off x="813816" y="4526280"/>
            <a:ext cx="10570464" cy="1371600"/>
          </a:xfrm>
          <a:prstGeom prst="roundRect">
            <a:avLst>
              <a:gd name="adj" fmla="val 8000"/>
            </a:avLst>
          </a:prstGeom>
          <a:solidFill>
            <a:srgbClr val="172B26"/>
          </a:solidFill>
          <a:ln w="12700">
            <a:solidFill>
              <a:srgbClr val="172B26"/>
            </a:solidFill>
            <a:prstDash val="solid"/>
          </a:ln>
        </p:spPr>
      </p:sp>
      <p:sp>
        <p:nvSpPr>
          <p:cNvPr id="13" name="Text 10"/>
          <p:cNvSpPr txBox="1"/>
          <p:nvPr/>
        </p:nvSpPr>
        <p:spPr>
          <a:xfrm>
            <a:off x="1133856" y="4754880"/>
            <a:ext cx="3566160" cy="914400"/>
          </a:xfrm>
          <a:prstGeom prst="rect">
            <a:avLst/>
          </a:prstGeom>
          <a:noFill/>
          <a:ln/>
        </p:spPr>
        <p:txBody>
          <a:bodyPr wrap="square" lIns="0" tIns="0" rIns="0" bIns="0" rtlCol="0" anchor="ctr"/>
          <a:lstStyle/>
          <a:p>
            <a:pPr marL="0" indent="0">
              <a:buNone/>
            </a:pPr>
            <a:r>
              <a:rPr lang="en-US" sz="1600" dirty="0">
                <a:solidFill>
                  <a:srgbClr val="B9CCC5"/>
                </a:solidFill>
                <a:latin typeface="Calibri" pitchFamily="34" charset="0"/>
                <a:ea typeface="Calibri" pitchFamily="34" charset="-122"/>
                <a:cs typeface="Calibri" pitchFamily="34" charset="-120"/>
              </a:rPr>
              <a:t>Namuna sement zavodi, 2026-yil II chorak, Yevropa Ittifoqiga 23 000 t eksport:</a:t>
            </a:r>
            <a:endParaRPr lang="en-US" sz="1600" dirty="0"/>
          </a:p>
        </p:txBody>
      </p:sp>
      <p:sp>
        <p:nvSpPr>
          <p:cNvPr id="14" name="Text 11"/>
          <p:cNvSpPr txBox="1"/>
          <p:nvPr/>
        </p:nvSpPr>
        <p:spPr>
          <a:xfrm>
            <a:off x="5020056" y="4709160"/>
            <a:ext cx="3108960" cy="594360"/>
          </a:xfrm>
          <a:prstGeom prst="rect">
            <a:avLst/>
          </a:prstGeom>
          <a:noFill/>
          <a:ln/>
        </p:spPr>
        <p:txBody>
          <a:bodyPr wrap="square" lIns="0" tIns="0" rIns="0" bIns="0" rtlCol="0" anchor="t"/>
          <a:lstStyle/>
          <a:p>
            <a:pPr marL="0" indent="0">
              <a:buNone/>
            </a:pPr>
            <a:r>
              <a:rPr lang="en-US" sz="3200" b="1" dirty="0">
                <a:solidFill>
                  <a:srgbClr val="2FB38F"/>
                </a:solidFill>
                <a:latin typeface="Arial" pitchFamily="34" charset="0"/>
                <a:ea typeface="Arial" pitchFamily="34" charset="-122"/>
                <a:cs typeface="Arial" pitchFamily="34" charset="-120"/>
              </a:rPr>
              <a:t>255 235 €</a:t>
            </a:r>
            <a:endParaRPr lang="en-US" sz="3200" dirty="0"/>
          </a:p>
        </p:txBody>
      </p:sp>
      <p:sp>
        <p:nvSpPr>
          <p:cNvPr id="15" name="Text 12"/>
          <p:cNvSpPr txBox="1"/>
          <p:nvPr/>
        </p:nvSpPr>
        <p:spPr>
          <a:xfrm>
            <a:off x="5020056" y="5303520"/>
            <a:ext cx="3108960" cy="320040"/>
          </a:xfrm>
          <a:prstGeom prst="rect">
            <a:avLst/>
          </a:prstGeom>
          <a:noFill/>
          <a:ln/>
        </p:spPr>
        <p:txBody>
          <a:bodyPr wrap="square" lIns="0" tIns="0" rIns="0" bIns="0" rtlCol="0" anchor="t"/>
          <a:lstStyle/>
          <a:p>
            <a:pPr marL="0" indent="0">
              <a:buNone/>
            </a:pPr>
            <a:r>
              <a:rPr lang="en-US" sz="1400" dirty="0">
                <a:solidFill>
                  <a:srgbClr val="B9CCC5"/>
                </a:solidFill>
                <a:latin typeface="Calibri" pitchFamily="34" charset="0"/>
                <a:ea typeface="Calibri" pitchFamily="34" charset="-122"/>
                <a:cs typeface="Calibri" pitchFamily="34" charset="-120"/>
              </a:rPr>
              <a:t>haqiqiy ma’lumot bilan</a:t>
            </a:r>
            <a:endParaRPr lang="en-US" sz="1400" dirty="0"/>
          </a:p>
        </p:txBody>
      </p:sp>
      <p:sp>
        <p:nvSpPr>
          <p:cNvPr id="16" name="Text 13"/>
          <p:cNvSpPr txBox="1"/>
          <p:nvPr/>
        </p:nvSpPr>
        <p:spPr>
          <a:xfrm>
            <a:off x="8311896" y="4709160"/>
            <a:ext cx="3108960" cy="594360"/>
          </a:xfrm>
          <a:prstGeom prst="rect">
            <a:avLst/>
          </a:prstGeom>
          <a:noFill/>
          <a:ln/>
        </p:spPr>
        <p:txBody>
          <a:bodyPr wrap="square" lIns="0" tIns="0" rIns="0" bIns="0" rtlCol="0" anchor="t"/>
          <a:lstStyle/>
          <a:p>
            <a:pPr marL="0" indent="0">
              <a:buNone/>
            </a:pPr>
            <a:r>
              <a:rPr lang="en-US" sz="3200" b="1" dirty="0">
                <a:solidFill>
                  <a:srgbClr val="E3A64A"/>
                </a:solidFill>
                <a:latin typeface="Arial" pitchFamily="34" charset="0"/>
                <a:ea typeface="Arial" pitchFamily="34" charset="-122"/>
                <a:cs typeface="Arial" pitchFamily="34" charset="-120"/>
              </a:rPr>
              <a:t>692 843 €</a:t>
            </a:r>
            <a:endParaRPr lang="en-US" sz="3200" dirty="0"/>
          </a:p>
        </p:txBody>
      </p:sp>
      <p:sp>
        <p:nvSpPr>
          <p:cNvPr id="17" name="Text 14"/>
          <p:cNvSpPr txBox="1"/>
          <p:nvPr/>
        </p:nvSpPr>
        <p:spPr>
          <a:xfrm>
            <a:off x="8311896" y="5303520"/>
            <a:ext cx="3108960" cy="320040"/>
          </a:xfrm>
          <a:prstGeom prst="rect">
            <a:avLst/>
          </a:prstGeom>
          <a:noFill/>
          <a:ln/>
        </p:spPr>
        <p:txBody>
          <a:bodyPr wrap="square" lIns="0" tIns="0" rIns="0" bIns="0" rtlCol="0" anchor="t"/>
          <a:lstStyle/>
          <a:p>
            <a:pPr marL="0" indent="0">
              <a:buNone/>
            </a:pPr>
            <a:r>
              <a:rPr lang="en-US" sz="1400" dirty="0">
                <a:solidFill>
                  <a:srgbClr val="B9CCC5"/>
                </a:solidFill>
                <a:latin typeface="Calibri" pitchFamily="34" charset="0"/>
                <a:ea typeface="Calibri" pitchFamily="34" charset="-122"/>
                <a:cs typeface="Calibri" pitchFamily="34" charset="-120"/>
              </a:rPr>
              <a:t>standart qiymat bilan</a:t>
            </a:r>
            <a:endParaRPr lang="en-US" sz="1400" dirty="0"/>
          </a:p>
        </p:txBody>
      </p:sp>
      <p:sp>
        <p:nvSpPr>
          <p:cNvPr id="18" name="Izoh"/>
          <p:cNvSpPr txBox="1"/>
          <p:nvPr/>
        </p:nvSpPr>
        <p:spPr>
          <a:xfrm>
            <a:off x="813816" y="6355080"/>
            <a:ext cx="9875520" cy="274320"/>
          </a:xfrm>
          <a:prstGeom prst="rect">
            <a:avLst/>
          </a:prstGeom>
          <a:noFill/>
          <a:ln/>
        </p:spPr>
        <p:txBody>
          <a:bodyPr wrap="square" lIns="0" tIns="0" rIns="0" bIns="0" rtlCol="0" anchor="ctr"/>
          <a:lstStyle/>
          <a:p>
            <a:pPr marL="0" indent="0">
              <a:buNone/>
            </a:pPr>
            <a:r>
              <a:rPr lang="en-US" sz="1100" dirty="0">
                <a:solidFill>
                  <a:srgbClr val="7F978F"/>
                </a:solidFill>
                <a:latin typeface="Calibri" pitchFamily="34" charset="0"/>
                <a:ea typeface="Calibri" pitchFamily="34" charset="-122"/>
                <a:cs typeface="Calibri" pitchFamily="34" charset="-120"/>
              </a:rPr>
              <a:t>Namuna ma’lumotlar (shartli korxona) · ETS narxi 75 €/t, standart qiymat ustamasi 10%</a:t>
            </a:r>
            <a:endParaRPr lang="en-US" sz="11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F978F"/>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0B7A5F"/>
                </a:solidFill>
                <a:latin typeface="Calibri" pitchFamily="34" charset="0"/>
                <a:ea typeface="Calibri" pitchFamily="34" charset="-122"/>
                <a:cs typeface="Calibri" pitchFamily="34" charset="-120"/>
              </a:rPr>
              <a:t>YECHIM</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14241F"/>
                </a:solidFill>
                <a:latin typeface="Arial" pitchFamily="34" charset="0"/>
                <a:ea typeface="Arial" pitchFamily="34" charset="-122"/>
                <a:cs typeface="Arial" pitchFamily="34" charset="-120"/>
              </a:rPr>
              <a:t>To‘rt vazifa bitta platformada</a:t>
            </a:r>
            <a:endParaRPr lang="en-US" sz="3200" dirty="0"/>
          </a:p>
        </p:txBody>
      </p:sp>
      <p:sp>
        <p:nvSpPr>
          <p:cNvPr id="5" name="Vazifa 1"/>
          <p:cNvSpPr/>
          <p:nvPr/>
        </p:nvSpPr>
        <p:spPr>
          <a:xfrm>
            <a:off x="813816" y="2057400"/>
            <a:ext cx="2457450" cy="3611880"/>
          </a:xfrm>
          <a:prstGeom prst="roundRect">
            <a:avLst>
              <a:gd name="adj" fmla="val 4465"/>
            </a:avLst>
          </a:prstGeom>
          <a:solidFill>
            <a:srgbClr val="FFFFFF"/>
          </a:solidFill>
          <a:ln w="9525">
            <a:solidFill>
              <a:srgbClr val="D6E0DB"/>
            </a:solidFill>
            <a:prstDash val="solid"/>
          </a:ln>
        </p:spPr>
      </p:sp>
      <p:sp>
        <p:nvSpPr>
          <p:cNvPr id="6" name="Belgi foni 1"/>
          <p:cNvSpPr/>
          <p:nvPr/>
        </p:nvSpPr>
        <p:spPr>
          <a:xfrm>
            <a:off x="1088136" y="2331720"/>
            <a:ext cx="658368" cy="658368"/>
          </a:xfrm>
          <a:prstGeom prst="ellipse">
            <a:avLst/>
          </a:prstGeom>
          <a:solidFill>
            <a:srgbClr val="E1ECE7"/>
          </a:solidFill>
          <a:ln w="12700">
            <a:solidFill>
              <a:srgbClr val="E1ECE7"/>
            </a:solidFill>
            <a:prstDash val="solid"/>
          </a:ln>
        </p:spPr>
      </p:sp>
      <p:pic>
        <p:nvPicPr>
          <p:cNvPr id="7" name="Image 0" descr="Emissiyalarni hisoblash"/>
          <p:cNvPicPr>
            <a:picLocks noChangeAspect="1"/>
          </p:cNvPicPr>
          <p:nvPr/>
        </p:nvPicPr>
        <p:blipFill>
          <a:blip r:embed="rId3"/>
          <a:stretch>
            <a:fillRect/>
          </a:stretch>
        </p:blipFill>
        <p:spPr>
          <a:xfrm>
            <a:off x="1243584" y="2487168"/>
            <a:ext cx="347472" cy="347472"/>
          </a:xfrm>
          <a:prstGeom prst="rect">
            <a:avLst/>
          </a:prstGeom>
        </p:spPr>
      </p:pic>
      <p:sp>
        <p:nvSpPr>
          <p:cNvPr id="8" name="Text 4"/>
          <p:cNvSpPr txBox="1"/>
          <p:nvPr/>
        </p:nvSpPr>
        <p:spPr>
          <a:xfrm>
            <a:off x="1088136" y="3200400"/>
            <a:ext cx="1908810" cy="731520"/>
          </a:xfrm>
          <a:prstGeom prst="rect">
            <a:avLst/>
          </a:prstGeom>
          <a:noFill/>
          <a:ln/>
        </p:spPr>
        <p:txBody>
          <a:bodyPr wrap="square" lIns="0" tIns="0" rIns="0" bIns="0" rtlCol="0" anchor="t"/>
          <a:lstStyle/>
          <a:p>
            <a:pPr marL="0" indent="0">
              <a:buNone/>
            </a:pPr>
            <a:r>
              <a:rPr lang="en-US" sz="1900" b="1" dirty="0">
                <a:solidFill>
                  <a:srgbClr val="14241F"/>
                </a:solidFill>
                <a:latin typeface="Calibri" pitchFamily="34" charset="0"/>
                <a:ea typeface="Calibri" pitchFamily="34" charset="-122"/>
                <a:cs typeface="Calibri" pitchFamily="34" charset="-120"/>
              </a:rPr>
              <a:t>Emissiyalarni hisoblash</a:t>
            </a:r>
            <a:endParaRPr lang="en-US" sz="1900" dirty="0"/>
          </a:p>
        </p:txBody>
      </p:sp>
      <p:sp>
        <p:nvSpPr>
          <p:cNvPr id="9" name="Text 5"/>
          <p:cNvSpPr txBox="1"/>
          <p:nvPr/>
        </p:nvSpPr>
        <p:spPr>
          <a:xfrm>
            <a:off x="1088136" y="3977640"/>
            <a:ext cx="1908810" cy="1554480"/>
          </a:xfrm>
          <a:prstGeom prst="rect">
            <a:avLst/>
          </a:prstGeom>
          <a:noFill/>
          <a:ln/>
        </p:spPr>
        <p:txBody>
          <a:bodyPr wrap="square" lIns="0" tIns="0" rIns="0" bIns="0" rtlCol="0" anchor="t"/>
          <a:lstStyle/>
          <a:p>
            <a:pPr marL="0" indent="0">
              <a:lnSpc>
                <a:spcPct val="110000"/>
              </a:lnSpc>
              <a:buNone/>
            </a:pPr>
            <a:r>
              <a:rPr lang="en-US" sz="1450" dirty="0">
                <a:solidFill>
                  <a:srgbClr val="3E4F49"/>
                </a:solidFill>
                <a:latin typeface="Calibri" pitchFamily="34" charset="0"/>
                <a:ea typeface="Calibri" pitchFamily="34" charset="-122"/>
                <a:cs typeface="Calibri" pitchFamily="34" charset="-120"/>
              </a:rPr>
              <a:t>Yoqilg‘i, xomashyo va elektr ma’lumotlaridan mahsulot birligidagi emissiya (SEE) va CBAM sertifikatlari soni</a:t>
            </a:r>
            <a:endParaRPr lang="en-US" sz="1450" dirty="0"/>
          </a:p>
        </p:txBody>
      </p:sp>
      <p:sp>
        <p:nvSpPr>
          <p:cNvPr id="10" name="Vazifa 2"/>
          <p:cNvSpPr/>
          <p:nvPr/>
        </p:nvSpPr>
        <p:spPr>
          <a:xfrm>
            <a:off x="3518154" y="2057400"/>
            <a:ext cx="2457450" cy="3611880"/>
          </a:xfrm>
          <a:prstGeom prst="roundRect">
            <a:avLst>
              <a:gd name="adj" fmla="val 4465"/>
            </a:avLst>
          </a:prstGeom>
          <a:solidFill>
            <a:srgbClr val="FFFFFF"/>
          </a:solidFill>
          <a:ln w="9525">
            <a:solidFill>
              <a:srgbClr val="D6E0DB"/>
            </a:solidFill>
            <a:prstDash val="solid"/>
          </a:ln>
        </p:spPr>
      </p:sp>
      <p:sp>
        <p:nvSpPr>
          <p:cNvPr id="11" name="Belgi foni 2"/>
          <p:cNvSpPr/>
          <p:nvPr/>
        </p:nvSpPr>
        <p:spPr>
          <a:xfrm>
            <a:off x="3792474" y="2331720"/>
            <a:ext cx="658368" cy="658368"/>
          </a:xfrm>
          <a:prstGeom prst="ellipse">
            <a:avLst/>
          </a:prstGeom>
          <a:solidFill>
            <a:srgbClr val="E1ECE7"/>
          </a:solidFill>
          <a:ln w="12700">
            <a:solidFill>
              <a:srgbClr val="E1ECE7"/>
            </a:solidFill>
            <a:prstDash val="solid"/>
          </a:ln>
        </p:spPr>
      </p:sp>
      <p:pic>
        <p:nvPicPr>
          <p:cNvPr id="12" name="Image 1" descr="Milliy uglerod narxi"/>
          <p:cNvPicPr>
            <a:picLocks noChangeAspect="1"/>
          </p:cNvPicPr>
          <p:nvPr/>
        </p:nvPicPr>
        <p:blipFill>
          <a:blip r:embed="rId4"/>
          <a:stretch>
            <a:fillRect/>
          </a:stretch>
        </p:blipFill>
        <p:spPr>
          <a:xfrm>
            <a:off x="3947922" y="2487168"/>
            <a:ext cx="347472" cy="347472"/>
          </a:xfrm>
          <a:prstGeom prst="rect">
            <a:avLst/>
          </a:prstGeom>
        </p:spPr>
      </p:pic>
      <p:sp>
        <p:nvSpPr>
          <p:cNvPr id="13" name="Text 8"/>
          <p:cNvSpPr txBox="1"/>
          <p:nvPr/>
        </p:nvSpPr>
        <p:spPr>
          <a:xfrm>
            <a:off x="3792474" y="3200400"/>
            <a:ext cx="1908810" cy="731520"/>
          </a:xfrm>
          <a:prstGeom prst="rect">
            <a:avLst/>
          </a:prstGeom>
          <a:noFill/>
          <a:ln/>
        </p:spPr>
        <p:txBody>
          <a:bodyPr wrap="square" lIns="0" tIns="0" rIns="0" bIns="0" rtlCol="0" anchor="t"/>
          <a:lstStyle/>
          <a:p>
            <a:pPr marL="0" indent="0">
              <a:buNone/>
            </a:pPr>
            <a:r>
              <a:rPr lang="en-US" sz="1900" b="1" dirty="0">
                <a:solidFill>
                  <a:srgbClr val="14241F"/>
                </a:solidFill>
                <a:latin typeface="Calibri" pitchFamily="34" charset="0"/>
                <a:ea typeface="Calibri" pitchFamily="34" charset="-122"/>
                <a:cs typeface="Calibri" pitchFamily="34" charset="-120"/>
              </a:rPr>
              <a:t>Milliy uglerod narxi</a:t>
            </a:r>
            <a:endParaRPr lang="en-US" sz="1900" dirty="0"/>
          </a:p>
        </p:txBody>
      </p:sp>
      <p:sp>
        <p:nvSpPr>
          <p:cNvPr id="14" name="Text 9"/>
          <p:cNvSpPr txBox="1"/>
          <p:nvPr/>
        </p:nvSpPr>
        <p:spPr>
          <a:xfrm>
            <a:off x="3792474" y="3977640"/>
            <a:ext cx="1908810" cy="1554480"/>
          </a:xfrm>
          <a:prstGeom prst="rect">
            <a:avLst/>
          </a:prstGeom>
          <a:noFill/>
          <a:ln/>
        </p:spPr>
        <p:txBody>
          <a:bodyPr wrap="square" lIns="0" tIns="0" rIns="0" bIns="0" rtlCol="0" anchor="t"/>
          <a:lstStyle/>
          <a:p>
            <a:pPr marL="0" indent="0">
              <a:lnSpc>
                <a:spcPct val="110000"/>
              </a:lnSpc>
              <a:buNone/>
            </a:pPr>
            <a:r>
              <a:rPr lang="en-US" sz="1450" dirty="0">
                <a:solidFill>
                  <a:srgbClr val="3E4F49"/>
                </a:solidFill>
                <a:latin typeface="Calibri" pitchFamily="34" charset="0"/>
                <a:ea typeface="Calibri" pitchFamily="34" charset="-122"/>
                <a:cs typeface="Calibri" pitchFamily="34" charset="-120"/>
              </a:rPr>
              <a:t>To‘langan narxni hisoblaydi va CBAM bo‘yicha chegirish uchun tasdiqlovchi ma’lumot tayyorlaydi</a:t>
            </a:r>
            <a:endParaRPr lang="en-US" sz="1450" dirty="0"/>
          </a:p>
        </p:txBody>
      </p:sp>
      <p:sp>
        <p:nvSpPr>
          <p:cNvPr id="15" name="Vazifa 3"/>
          <p:cNvSpPr/>
          <p:nvPr/>
        </p:nvSpPr>
        <p:spPr>
          <a:xfrm>
            <a:off x="6222492" y="2057400"/>
            <a:ext cx="2457450" cy="3611880"/>
          </a:xfrm>
          <a:prstGeom prst="roundRect">
            <a:avLst>
              <a:gd name="adj" fmla="val 4465"/>
            </a:avLst>
          </a:prstGeom>
          <a:solidFill>
            <a:srgbClr val="10201C"/>
          </a:solidFill>
          <a:ln w="12700">
            <a:solidFill>
              <a:srgbClr val="10201C"/>
            </a:solidFill>
            <a:prstDash val="solid"/>
          </a:ln>
        </p:spPr>
      </p:sp>
      <p:sp>
        <p:nvSpPr>
          <p:cNvPr id="16" name="Belgi foni 3"/>
          <p:cNvSpPr/>
          <p:nvPr/>
        </p:nvSpPr>
        <p:spPr>
          <a:xfrm>
            <a:off x="6496812" y="2331720"/>
            <a:ext cx="658368" cy="658368"/>
          </a:xfrm>
          <a:prstGeom prst="ellipse">
            <a:avLst/>
          </a:prstGeom>
          <a:solidFill>
            <a:srgbClr val="172B26"/>
          </a:solidFill>
          <a:ln w="12700">
            <a:solidFill>
              <a:srgbClr val="172B26"/>
            </a:solidFill>
            <a:prstDash val="solid"/>
          </a:ln>
        </p:spPr>
      </p:sp>
      <p:pic>
        <p:nvPicPr>
          <p:cNvPr id="17" name="Image 2" descr="Sun’iy intellekt"/>
          <p:cNvPicPr>
            <a:picLocks noChangeAspect="1"/>
          </p:cNvPicPr>
          <p:nvPr/>
        </p:nvPicPr>
        <p:blipFill>
          <a:blip r:embed="rId5"/>
          <a:stretch>
            <a:fillRect/>
          </a:stretch>
        </p:blipFill>
        <p:spPr>
          <a:xfrm>
            <a:off x="6652260" y="2487168"/>
            <a:ext cx="347472" cy="347472"/>
          </a:xfrm>
          <a:prstGeom prst="rect">
            <a:avLst/>
          </a:prstGeom>
        </p:spPr>
      </p:pic>
      <p:sp>
        <p:nvSpPr>
          <p:cNvPr id="18" name="Text 12"/>
          <p:cNvSpPr txBox="1"/>
          <p:nvPr/>
        </p:nvSpPr>
        <p:spPr>
          <a:xfrm>
            <a:off x="6496812" y="3200400"/>
            <a:ext cx="1908810" cy="731520"/>
          </a:xfrm>
          <a:prstGeom prst="rect">
            <a:avLst/>
          </a:prstGeom>
          <a:noFill/>
          <a:ln/>
        </p:spPr>
        <p:txBody>
          <a:bodyPr wrap="square" lIns="0" tIns="0" rIns="0" bIns="0" rtlCol="0" anchor="t"/>
          <a:lstStyle/>
          <a:p>
            <a:pPr marL="0" indent="0">
              <a:buNone/>
            </a:pPr>
            <a:r>
              <a:rPr lang="en-US" sz="1900" b="1" dirty="0">
                <a:solidFill>
                  <a:srgbClr val="EEF3EF"/>
                </a:solidFill>
                <a:latin typeface="Calibri" pitchFamily="34" charset="0"/>
                <a:ea typeface="Calibri" pitchFamily="34" charset="-122"/>
                <a:cs typeface="Calibri" pitchFamily="34" charset="-120"/>
              </a:rPr>
              <a:t>Sun’iy intellekt</a:t>
            </a:r>
            <a:endParaRPr lang="en-US" sz="1900" dirty="0"/>
          </a:p>
        </p:txBody>
      </p:sp>
      <p:sp>
        <p:nvSpPr>
          <p:cNvPr id="19" name="Text 13"/>
          <p:cNvSpPr txBox="1"/>
          <p:nvPr/>
        </p:nvSpPr>
        <p:spPr>
          <a:xfrm>
            <a:off x="6496812" y="3977640"/>
            <a:ext cx="1908810" cy="1554480"/>
          </a:xfrm>
          <a:prstGeom prst="rect">
            <a:avLst/>
          </a:prstGeom>
          <a:noFill/>
          <a:ln/>
        </p:spPr>
        <p:txBody>
          <a:bodyPr wrap="square" lIns="0" tIns="0" rIns="0" bIns="0" rtlCol="0" anchor="t"/>
          <a:lstStyle/>
          <a:p>
            <a:pPr marL="0" indent="0">
              <a:lnSpc>
                <a:spcPct val="110000"/>
              </a:lnSpc>
              <a:buNone/>
            </a:pPr>
            <a:r>
              <a:rPr lang="en-US" sz="1450" dirty="0">
                <a:solidFill>
                  <a:srgbClr val="B9CCC5"/>
                </a:solidFill>
                <a:latin typeface="Calibri" pitchFamily="34" charset="0"/>
                <a:ea typeface="Calibri" pitchFamily="34" charset="-122"/>
                <a:cs typeface="Calibri" pitchFamily="34" charset="-120"/>
              </a:rPr>
              <a:t>Anomaliyalarni topadi, emissiyani prognoz qiladi, kamaytirish choralarini tavsiya qiladi</a:t>
            </a:r>
            <a:endParaRPr lang="en-US" sz="1450" dirty="0"/>
          </a:p>
        </p:txBody>
      </p:sp>
      <p:sp>
        <p:nvSpPr>
          <p:cNvPr id="20" name="Vazifa 4"/>
          <p:cNvSpPr/>
          <p:nvPr/>
        </p:nvSpPr>
        <p:spPr>
          <a:xfrm>
            <a:off x="8926830" y="2057400"/>
            <a:ext cx="2457450" cy="3611880"/>
          </a:xfrm>
          <a:prstGeom prst="roundRect">
            <a:avLst>
              <a:gd name="adj" fmla="val 4465"/>
            </a:avLst>
          </a:prstGeom>
          <a:solidFill>
            <a:srgbClr val="FFFFFF"/>
          </a:solidFill>
          <a:ln w="9525">
            <a:solidFill>
              <a:srgbClr val="D6E0DB"/>
            </a:solidFill>
            <a:prstDash val="solid"/>
          </a:ln>
        </p:spPr>
      </p:sp>
      <p:sp>
        <p:nvSpPr>
          <p:cNvPr id="21" name="Belgi foni 4"/>
          <p:cNvSpPr/>
          <p:nvPr/>
        </p:nvSpPr>
        <p:spPr>
          <a:xfrm>
            <a:off x="9201150" y="2331720"/>
            <a:ext cx="658368" cy="658368"/>
          </a:xfrm>
          <a:prstGeom prst="ellipse">
            <a:avLst/>
          </a:prstGeom>
          <a:solidFill>
            <a:srgbClr val="E1ECE7"/>
          </a:solidFill>
          <a:ln w="12700">
            <a:solidFill>
              <a:srgbClr val="E1ECE7"/>
            </a:solidFill>
            <a:prstDash val="solid"/>
          </a:ln>
        </p:spPr>
      </p:sp>
      <p:pic>
        <p:nvPicPr>
          <p:cNvPr id="22" name="Image 3" descr="Hisobot va audit"/>
          <p:cNvPicPr>
            <a:picLocks noChangeAspect="1"/>
          </p:cNvPicPr>
          <p:nvPr/>
        </p:nvPicPr>
        <p:blipFill>
          <a:blip r:embed="rId6"/>
          <a:stretch>
            <a:fillRect/>
          </a:stretch>
        </p:blipFill>
        <p:spPr>
          <a:xfrm>
            <a:off x="9356598" y="2487168"/>
            <a:ext cx="347472" cy="347472"/>
          </a:xfrm>
          <a:prstGeom prst="rect">
            <a:avLst/>
          </a:prstGeom>
        </p:spPr>
      </p:pic>
      <p:sp>
        <p:nvSpPr>
          <p:cNvPr id="23" name="Text 16"/>
          <p:cNvSpPr txBox="1"/>
          <p:nvPr/>
        </p:nvSpPr>
        <p:spPr>
          <a:xfrm>
            <a:off x="9201150" y="3200400"/>
            <a:ext cx="1908810" cy="731520"/>
          </a:xfrm>
          <a:prstGeom prst="rect">
            <a:avLst/>
          </a:prstGeom>
          <a:noFill/>
          <a:ln/>
        </p:spPr>
        <p:txBody>
          <a:bodyPr wrap="square" lIns="0" tIns="0" rIns="0" bIns="0" rtlCol="0" anchor="t"/>
          <a:lstStyle/>
          <a:p>
            <a:pPr marL="0" indent="0">
              <a:buNone/>
            </a:pPr>
            <a:r>
              <a:rPr lang="en-US" sz="1900" b="1" dirty="0">
                <a:solidFill>
                  <a:srgbClr val="14241F"/>
                </a:solidFill>
                <a:latin typeface="Calibri" pitchFamily="34" charset="0"/>
                <a:ea typeface="Calibri" pitchFamily="34" charset="-122"/>
                <a:cs typeface="Calibri" pitchFamily="34" charset="-120"/>
              </a:rPr>
              <a:t>Hisobot va audit</a:t>
            </a:r>
            <a:endParaRPr lang="en-US" sz="1900" dirty="0"/>
          </a:p>
        </p:txBody>
      </p:sp>
      <p:sp>
        <p:nvSpPr>
          <p:cNvPr id="24" name="Text 17"/>
          <p:cNvSpPr txBox="1"/>
          <p:nvPr/>
        </p:nvSpPr>
        <p:spPr>
          <a:xfrm>
            <a:off x="9201150" y="3977640"/>
            <a:ext cx="1908810" cy="1554480"/>
          </a:xfrm>
          <a:prstGeom prst="rect">
            <a:avLst/>
          </a:prstGeom>
          <a:noFill/>
          <a:ln/>
        </p:spPr>
        <p:txBody>
          <a:bodyPr wrap="square" lIns="0" tIns="0" rIns="0" bIns="0" rtlCol="0" anchor="t"/>
          <a:lstStyle/>
          <a:p>
            <a:pPr marL="0" indent="0">
              <a:lnSpc>
                <a:spcPct val="110000"/>
              </a:lnSpc>
              <a:buNone/>
            </a:pPr>
            <a:r>
              <a:rPr lang="en-US" sz="1450" dirty="0">
                <a:solidFill>
                  <a:srgbClr val="3E4F49"/>
                </a:solidFill>
                <a:latin typeface="Calibri" pitchFamily="34" charset="0"/>
                <a:ea typeface="Calibri" pitchFamily="34" charset="-122"/>
                <a:cs typeface="Calibri" pitchFamily="34" charset="-120"/>
              </a:rPr>
              <a:t>Importyor uchun CBAM ma’lumotlari, verifikator uchun shaffof hisob va o‘zgarishlar tarixi</a:t>
            </a:r>
            <a:endParaRPr lang="en-US" sz="145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C76"/>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0B7A5F"/>
                </a:solidFill>
                <a:latin typeface="Calibri" pitchFamily="34" charset="0"/>
                <a:ea typeface="Calibri" pitchFamily="34" charset="-122"/>
                <a:cs typeface="Calibri" pitchFamily="34" charset="-120"/>
              </a:rPr>
              <a:t>ARXITEKTURA</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14241F"/>
                </a:solidFill>
                <a:latin typeface="Arial" pitchFamily="34" charset="0"/>
                <a:ea typeface="Arial" pitchFamily="34" charset="-122"/>
                <a:cs typeface="Arial" pitchFamily="34" charset="-120"/>
              </a:rPr>
              <a:t>Ma’lumotdan hisobotgacha</a:t>
            </a:r>
            <a:endParaRPr lang="en-US" sz="3200" dirty="0"/>
          </a:p>
        </p:txBody>
      </p:sp>
      <p:sp>
        <p:nvSpPr>
          <p:cNvPr id="5" name="Bosqich 01"/>
          <p:cNvSpPr/>
          <p:nvPr/>
        </p:nvSpPr>
        <p:spPr>
          <a:xfrm>
            <a:off x="813816" y="2103120"/>
            <a:ext cx="2377440" cy="1463040"/>
          </a:xfrm>
          <a:prstGeom prst="roundRect">
            <a:avLst>
              <a:gd name="adj" fmla="val 7500"/>
            </a:avLst>
          </a:prstGeom>
          <a:solidFill>
            <a:srgbClr val="FFFFFF"/>
          </a:solidFill>
          <a:ln w="9525">
            <a:solidFill>
              <a:srgbClr val="D6E0DB"/>
            </a:solidFill>
            <a:prstDash val="solid"/>
          </a:ln>
        </p:spPr>
      </p:sp>
      <p:sp>
        <p:nvSpPr>
          <p:cNvPr id="6" name="Text 3"/>
          <p:cNvSpPr txBox="1"/>
          <p:nvPr/>
        </p:nvSpPr>
        <p:spPr>
          <a:xfrm>
            <a:off x="1014984" y="2267712"/>
            <a:ext cx="914400" cy="274320"/>
          </a:xfrm>
          <a:prstGeom prst="rect">
            <a:avLst/>
          </a:prstGeom>
          <a:noFill/>
          <a:ln/>
        </p:spPr>
        <p:txBody>
          <a:bodyPr wrap="square" lIns="0" tIns="0" rIns="0" bIns="0" rtlCol="0" anchor="t"/>
          <a:lstStyle/>
          <a:p>
            <a:pPr marL="0" indent="0">
              <a:buNone/>
            </a:pPr>
            <a:r>
              <a:rPr lang="en-US" sz="1300" b="1" dirty="0">
                <a:solidFill>
                  <a:srgbClr val="0B7A5F"/>
                </a:solidFill>
                <a:latin typeface="Courier New" pitchFamily="34" charset="0"/>
                <a:ea typeface="Courier New" pitchFamily="34" charset="-122"/>
                <a:cs typeface="Courier New" pitchFamily="34" charset="-120"/>
              </a:rPr>
              <a:t>01</a:t>
            </a:r>
            <a:endParaRPr lang="en-US" sz="1300" dirty="0"/>
          </a:p>
        </p:txBody>
      </p:sp>
      <p:sp>
        <p:nvSpPr>
          <p:cNvPr id="7" name="Text 4"/>
          <p:cNvSpPr txBox="1"/>
          <p:nvPr/>
        </p:nvSpPr>
        <p:spPr>
          <a:xfrm>
            <a:off x="1014984" y="2542032"/>
            <a:ext cx="1975104" cy="548640"/>
          </a:xfrm>
          <a:prstGeom prst="rect">
            <a:avLst/>
          </a:prstGeom>
          <a:noFill/>
          <a:ln/>
        </p:spPr>
        <p:txBody>
          <a:bodyPr wrap="square" lIns="0" tIns="0" rIns="0" bIns="0" rtlCol="0" anchor="t"/>
          <a:lstStyle/>
          <a:p>
            <a:pPr marL="0" indent="0">
              <a:buNone/>
            </a:pPr>
            <a:r>
              <a:rPr lang="en-US" sz="1600" b="1" dirty="0">
                <a:solidFill>
                  <a:srgbClr val="14241F"/>
                </a:solidFill>
                <a:latin typeface="Calibri" pitchFamily="34" charset="0"/>
                <a:ea typeface="Calibri" pitchFamily="34" charset="-122"/>
                <a:cs typeface="Calibri" pitchFamily="34" charset="-120"/>
              </a:rPr>
              <a:t>Korxona ma’lumotlari</a:t>
            </a:r>
            <a:endParaRPr lang="en-US" sz="1600" dirty="0"/>
          </a:p>
        </p:txBody>
      </p:sp>
      <p:sp>
        <p:nvSpPr>
          <p:cNvPr id="8" name="Text 5"/>
          <p:cNvSpPr txBox="1"/>
          <p:nvPr/>
        </p:nvSpPr>
        <p:spPr>
          <a:xfrm>
            <a:off x="1014984" y="3108960"/>
            <a:ext cx="1975104" cy="384048"/>
          </a:xfrm>
          <a:prstGeom prst="rect">
            <a:avLst/>
          </a:prstGeom>
          <a:noFill/>
          <a:ln/>
        </p:spPr>
        <p:txBody>
          <a:bodyPr wrap="square" lIns="0" tIns="0" rIns="0" bIns="0" rtlCol="0" anchor="t"/>
          <a:lstStyle/>
          <a:p>
            <a:pPr marL="0" indent="0">
              <a:buNone/>
            </a:pPr>
            <a:r>
              <a:rPr lang="en-US" sz="1250" dirty="0">
                <a:solidFill>
                  <a:srgbClr val="5C6E68"/>
                </a:solidFill>
                <a:latin typeface="Calibri" pitchFamily="34" charset="0"/>
                <a:ea typeface="Calibri" pitchFamily="34" charset="-122"/>
                <a:cs typeface="Calibri" pitchFamily="34" charset="-120"/>
              </a:rPr>
              <a:t>ERP, IoT, hisob-fakturalar</a:t>
            </a:r>
            <a:endParaRPr lang="en-US" sz="1250" dirty="0"/>
          </a:p>
        </p:txBody>
      </p:sp>
      <p:sp>
        <p:nvSpPr>
          <p:cNvPr id="9" name="Strelka 1"/>
          <p:cNvSpPr/>
          <p:nvPr/>
        </p:nvSpPr>
        <p:spPr>
          <a:xfrm>
            <a:off x="3191256" y="2834640"/>
            <a:ext cx="356616" cy="0"/>
          </a:xfrm>
          <a:prstGeom prst="line">
            <a:avLst/>
          </a:prstGeom>
          <a:noFill/>
          <a:ln w="25400">
            <a:solidFill>
              <a:srgbClr val="7E918A"/>
            </a:solidFill>
            <a:prstDash val="solid"/>
            <a:tailEnd type="triangle"/>
          </a:ln>
        </p:spPr>
      </p:sp>
      <p:sp>
        <p:nvSpPr>
          <p:cNvPr id="10" name="Bosqich 02"/>
          <p:cNvSpPr/>
          <p:nvPr/>
        </p:nvSpPr>
        <p:spPr>
          <a:xfrm>
            <a:off x="3547872" y="2103120"/>
            <a:ext cx="2377440" cy="1463040"/>
          </a:xfrm>
          <a:prstGeom prst="roundRect">
            <a:avLst>
              <a:gd name="adj" fmla="val 7500"/>
            </a:avLst>
          </a:prstGeom>
          <a:solidFill>
            <a:srgbClr val="FFFFFF"/>
          </a:solidFill>
          <a:ln w="9525">
            <a:solidFill>
              <a:srgbClr val="D6E0DB"/>
            </a:solidFill>
            <a:prstDash val="solid"/>
          </a:ln>
        </p:spPr>
      </p:sp>
      <p:sp>
        <p:nvSpPr>
          <p:cNvPr id="11" name="Text 8"/>
          <p:cNvSpPr txBox="1"/>
          <p:nvPr/>
        </p:nvSpPr>
        <p:spPr>
          <a:xfrm>
            <a:off x="3749040" y="2267712"/>
            <a:ext cx="914400" cy="274320"/>
          </a:xfrm>
          <a:prstGeom prst="rect">
            <a:avLst/>
          </a:prstGeom>
          <a:noFill/>
          <a:ln/>
        </p:spPr>
        <p:txBody>
          <a:bodyPr wrap="square" lIns="0" tIns="0" rIns="0" bIns="0" rtlCol="0" anchor="t"/>
          <a:lstStyle/>
          <a:p>
            <a:pPr marL="0" indent="0">
              <a:buNone/>
            </a:pPr>
            <a:r>
              <a:rPr lang="en-US" sz="1300" b="1" dirty="0">
                <a:solidFill>
                  <a:srgbClr val="0B7A5F"/>
                </a:solidFill>
                <a:latin typeface="Courier New" pitchFamily="34" charset="0"/>
                <a:ea typeface="Courier New" pitchFamily="34" charset="-122"/>
                <a:cs typeface="Courier New" pitchFamily="34" charset="-120"/>
              </a:rPr>
              <a:t>02</a:t>
            </a:r>
            <a:endParaRPr lang="en-US" sz="1300" dirty="0"/>
          </a:p>
        </p:txBody>
      </p:sp>
      <p:sp>
        <p:nvSpPr>
          <p:cNvPr id="12" name="Text 9"/>
          <p:cNvSpPr txBox="1"/>
          <p:nvPr/>
        </p:nvSpPr>
        <p:spPr>
          <a:xfrm>
            <a:off x="3749040" y="2542032"/>
            <a:ext cx="1975104" cy="548640"/>
          </a:xfrm>
          <a:prstGeom prst="rect">
            <a:avLst/>
          </a:prstGeom>
          <a:noFill/>
          <a:ln/>
        </p:spPr>
        <p:txBody>
          <a:bodyPr wrap="square" lIns="0" tIns="0" rIns="0" bIns="0" rtlCol="0" anchor="t"/>
          <a:lstStyle/>
          <a:p>
            <a:pPr marL="0" indent="0">
              <a:buNone/>
            </a:pPr>
            <a:r>
              <a:rPr lang="en-US" sz="1600" b="1" dirty="0">
                <a:solidFill>
                  <a:srgbClr val="14241F"/>
                </a:solidFill>
                <a:latin typeface="Calibri" pitchFamily="34" charset="0"/>
                <a:ea typeface="Calibri" pitchFamily="34" charset="-122"/>
                <a:cs typeface="Calibri" pitchFamily="34" charset="-120"/>
              </a:rPr>
              <a:t>AI nazorati</a:t>
            </a:r>
            <a:endParaRPr lang="en-US" sz="1600" dirty="0"/>
          </a:p>
        </p:txBody>
      </p:sp>
      <p:sp>
        <p:nvSpPr>
          <p:cNvPr id="13" name="Text 10"/>
          <p:cNvSpPr txBox="1"/>
          <p:nvPr/>
        </p:nvSpPr>
        <p:spPr>
          <a:xfrm>
            <a:off x="3749040" y="3108960"/>
            <a:ext cx="1975104" cy="384048"/>
          </a:xfrm>
          <a:prstGeom prst="rect">
            <a:avLst/>
          </a:prstGeom>
          <a:noFill/>
          <a:ln/>
        </p:spPr>
        <p:txBody>
          <a:bodyPr wrap="square" lIns="0" tIns="0" rIns="0" bIns="0" rtlCol="0" anchor="t"/>
          <a:lstStyle/>
          <a:p>
            <a:pPr marL="0" indent="0">
              <a:buNone/>
            </a:pPr>
            <a:r>
              <a:rPr lang="en-US" sz="1250" dirty="0">
                <a:solidFill>
                  <a:srgbClr val="5C6E68"/>
                </a:solidFill>
                <a:latin typeface="Calibri" pitchFamily="34" charset="0"/>
                <a:ea typeface="Calibri" pitchFamily="34" charset="-122"/>
                <a:cs typeface="Calibri" pitchFamily="34" charset="-120"/>
              </a:rPr>
              <a:t>Xato va anomaliyalarni topish</a:t>
            </a:r>
            <a:endParaRPr lang="en-US" sz="1250" dirty="0"/>
          </a:p>
        </p:txBody>
      </p:sp>
      <p:sp>
        <p:nvSpPr>
          <p:cNvPr id="14" name="Strelka 2"/>
          <p:cNvSpPr/>
          <p:nvPr/>
        </p:nvSpPr>
        <p:spPr>
          <a:xfrm>
            <a:off x="5925312" y="2834640"/>
            <a:ext cx="356616" cy="0"/>
          </a:xfrm>
          <a:prstGeom prst="line">
            <a:avLst/>
          </a:prstGeom>
          <a:noFill/>
          <a:ln w="25400">
            <a:solidFill>
              <a:srgbClr val="7E918A"/>
            </a:solidFill>
            <a:prstDash val="solid"/>
            <a:tailEnd type="triangle"/>
          </a:ln>
        </p:spPr>
      </p:sp>
      <p:sp>
        <p:nvSpPr>
          <p:cNvPr id="15" name="Bosqich 03"/>
          <p:cNvSpPr/>
          <p:nvPr/>
        </p:nvSpPr>
        <p:spPr>
          <a:xfrm>
            <a:off x="6281928" y="2103120"/>
            <a:ext cx="2377440" cy="1463040"/>
          </a:xfrm>
          <a:prstGeom prst="roundRect">
            <a:avLst>
              <a:gd name="adj" fmla="val 7500"/>
            </a:avLst>
          </a:prstGeom>
          <a:solidFill>
            <a:srgbClr val="10201C"/>
          </a:solidFill>
          <a:ln w="12700">
            <a:solidFill>
              <a:srgbClr val="10201C"/>
            </a:solidFill>
            <a:prstDash val="solid"/>
          </a:ln>
        </p:spPr>
      </p:sp>
      <p:sp>
        <p:nvSpPr>
          <p:cNvPr id="16" name="Text 13"/>
          <p:cNvSpPr txBox="1"/>
          <p:nvPr/>
        </p:nvSpPr>
        <p:spPr>
          <a:xfrm>
            <a:off x="6483096" y="2267712"/>
            <a:ext cx="914400" cy="274320"/>
          </a:xfrm>
          <a:prstGeom prst="rect">
            <a:avLst/>
          </a:prstGeom>
          <a:noFill/>
          <a:ln/>
        </p:spPr>
        <p:txBody>
          <a:bodyPr wrap="square" lIns="0" tIns="0" rIns="0" bIns="0" rtlCol="0" anchor="t"/>
          <a:lstStyle/>
          <a:p>
            <a:pPr marL="0" indent="0">
              <a:buNone/>
            </a:pPr>
            <a:r>
              <a:rPr lang="en-US" sz="1300" b="1" dirty="0">
                <a:solidFill>
                  <a:srgbClr val="2FB38F"/>
                </a:solidFill>
                <a:latin typeface="Courier New" pitchFamily="34" charset="0"/>
                <a:ea typeface="Courier New" pitchFamily="34" charset="-122"/>
                <a:cs typeface="Courier New" pitchFamily="34" charset="-120"/>
              </a:rPr>
              <a:t>03</a:t>
            </a:r>
            <a:endParaRPr lang="en-US" sz="1300" dirty="0"/>
          </a:p>
        </p:txBody>
      </p:sp>
      <p:sp>
        <p:nvSpPr>
          <p:cNvPr id="17" name="Text 14"/>
          <p:cNvSpPr txBox="1"/>
          <p:nvPr/>
        </p:nvSpPr>
        <p:spPr>
          <a:xfrm>
            <a:off x="6483096" y="2542032"/>
            <a:ext cx="1975104" cy="548640"/>
          </a:xfrm>
          <a:prstGeom prst="rect">
            <a:avLst/>
          </a:prstGeom>
          <a:noFill/>
          <a:ln/>
        </p:spPr>
        <p:txBody>
          <a:bodyPr wrap="square" lIns="0" tIns="0" rIns="0" bIns="0" rtlCol="0" anchor="t"/>
          <a:lstStyle/>
          <a:p>
            <a:pPr marL="0" indent="0">
              <a:buNone/>
            </a:pPr>
            <a:r>
              <a:rPr lang="en-US" sz="1600" b="1" dirty="0">
                <a:solidFill>
                  <a:srgbClr val="EEF3EF"/>
                </a:solidFill>
                <a:latin typeface="Calibri" pitchFamily="34" charset="0"/>
                <a:ea typeface="Calibri" pitchFamily="34" charset="-122"/>
                <a:cs typeface="Calibri" pitchFamily="34" charset="-120"/>
              </a:rPr>
              <a:t>Hisoblash yadrosi</a:t>
            </a:r>
            <a:endParaRPr lang="en-US" sz="1600" dirty="0"/>
          </a:p>
        </p:txBody>
      </p:sp>
      <p:sp>
        <p:nvSpPr>
          <p:cNvPr id="18" name="Text 15"/>
          <p:cNvSpPr txBox="1"/>
          <p:nvPr/>
        </p:nvSpPr>
        <p:spPr>
          <a:xfrm>
            <a:off x="6483096" y="3108960"/>
            <a:ext cx="1975104" cy="384048"/>
          </a:xfrm>
          <a:prstGeom prst="rect">
            <a:avLst/>
          </a:prstGeom>
          <a:noFill/>
          <a:ln/>
        </p:spPr>
        <p:txBody>
          <a:bodyPr wrap="square" lIns="0" tIns="0" rIns="0" bIns="0" rtlCol="0" anchor="t"/>
          <a:lstStyle/>
          <a:p>
            <a:pPr marL="0" indent="0">
              <a:buNone/>
            </a:pPr>
            <a:r>
              <a:rPr lang="en-US" sz="1250" dirty="0">
                <a:solidFill>
                  <a:srgbClr val="B9CCC5"/>
                </a:solidFill>
                <a:latin typeface="Calibri" pitchFamily="34" charset="0"/>
                <a:ea typeface="Calibri" pitchFamily="34" charset="-122"/>
                <a:cs typeface="Calibri" pitchFamily="34" charset="-120"/>
              </a:rPr>
              <a:t>IPCC 2006, EU ETS, CBAM</a:t>
            </a:r>
            <a:endParaRPr lang="en-US" sz="1250" dirty="0"/>
          </a:p>
        </p:txBody>
      </p:sp>
      <p:sp>
        <p:nvSpPr>
          <p:cNvPr id="19" name="Strelka 3"/>
          <p:cNvSpPr/>
          <p:nvPr/>
        </p:nvSpPr>
        <p:spPr>
          <a:xfrm>
            <a:off x="8659368" y="2834640"/>
            <a:ext cx="356616" cy="0"/>
          </a:xfrm>
          <a:prstGeom prst="line">
            <a:avLst/>
          </a:prstGeom>
          <a:noFill/>
          <a:ln w="25400">
            <a:solidFill>
              <a:srgbClr val="7E918A"/>
            </a:solidFill>
            <a:prstDash val="solid"/>
            <a:tailEnd type="triangle"/>
          </a:ln>
        </p:spPr>
      </p:sp>
      <p:sp>
        <p:nvSpPr>
          <p:cNvPr id="20" name="Bosqich 04"/>
          <p:cNvSpPr/>
          <p:nvPr/>
        </p:nvSpPr>
        <p:spPr>
          <a:xfrm>
            <a:off x="9015984" y="2103120"/>
            <a:ext cx="2377440" cy="1463040"/>
          </a:xfrm>
          <a:prstGeom prst="roundRect">
            <a:avLst>
              <a:gd name="adj" fmla="val 7500"/>
            </a:avLst>
          </a:prstGeom>
          <a:solidFill>
            <a:srgbClr val="FFFFFF"/>
          </a:solidFill>
          <a:ln w="9525">
            <a:solidFill>
              <a:srgbClr val="D6E0DB"/>
            </a:solidFill>
            <a:prstDash val="solid"/>
          </a:ln>
        </p:spPr>
      </p:sp>
      <p:sp>
        <p:nvSpPr>
          <p:cNvPr id="21" name="Text 18"/>
          <p:cNvSpPr txBox="1"/>
          <p:nvPr/>
        </p:nvSpPr>
        <p:spPr>
          <a:xfrm>
            <a:off x="9217152" y="2267712"/>
            <a:ext cx="914400" cy="274320"/>
          </a:xfrm>
          <a:prstGeom prst="rect">
            <a:avLst/>
          </a:prstGeom>
          <a:noFill/>
          <a:ln/>
        </p:spPr>
        <p:txBody>
          <a:bodyPr wrap="square" lIns="0" tIns="0" rIns="0" bIns="0" rtlCol="0" anchor="t"/>
          <a:lstStyle/>
          <a:p>
            <a:pPr marL="0" indent="0">
              <a:buNone/>
            </a:pPr>
            <a:r>
              <a:rPr lang="en-US" sz="1300" b="1" dirty="0">
                <a:solidFill>
                  <a:srgbClr val="0B7A5F"/>
                </a:solidFill>
                <a:latin typeface="Courier New" pitchFamily="34" charset="0"/>
                <a:ea typeface="Courier New" pitchFamily="34" charset="-122"/>
                <a:cs typeface="Courier New" pitchFamily="34" charset="-120"/>
              </a:rPr>
              <a:t>04</a:t>
            </a:r>
            <a:endParaRPr lang="en-US" sz="1300" dirty="0"/>
          </a:p>
        </p:txBody>
      </p:sp>
      <p:sp>
        <p:nvSpPr>
          <p:cNvPr id="22" name="Text 19"/>
          <p:cNvSpPr txBox="1"/>
          <p:nvPr/>
        </p:nvSpPr>
        <p:spPr>
          <a:xfrm>
            <a:off x="9217152" y="2542032"/>
            <a:ext cx="1975104" cy="548640"/>
          </a:xfrm>
          <a:prstGeom prst="rect">
            <a:avLst/>
          </a:prstGeom>
          <a:noFill/>
          <a:ln/>
        </p:spPr>
        <p:txBody>
          <a:bodyPr wrap="square" lIns="0" tIns="0" rIns="0" bIns="0" rtlCol="0" anchor="t"/>
          <a:lstStyle/>
          <a:p>
            <a:pPr marL="0" indent="0">
              <a:buNone/>
            </a:pPr>
            <a:r>
              <a:rPr lang="en-US" sz="1600" b="1" dirty="0">
                <a:solidFill>
                  <a:srgbClr val="14241F"/>
                </a:solidFill>
                <a:latin typeface="Calibri" pitchFamily="34" charset="0"/>
                <a:ea typeface="Calibri" pitchFamily="34" charset="-122"/>
                <a:cs typeface="Calibri" pitchFamily="34" charset="-120"/>
              </a:rPr>
              <a:t>Verifikatsiya</a:t>
            </a:r>
            <a:endParaRPr lang="en-US" sz="1600" dirty="0"/>
          </a:p>
        </p:txBody>
      </p:sp>
      <p:sp>
        <p:nvSpPr>
          <p:cNvPr id="23" name="Text 20"/>
          <p:cNvSpPr txBox="1"/>
          <p:nvPr/>
        </p:nvSpPr>
        <p:spPr>
          <a:xfrm>
            <a:off x="9217152" y="3108960"/>
            <a:ext cx="1975104" cy="384048"/>
          </a:xfrm>
          <a:prstGeom prst="rect">
            <a:avLst/>
          </a:prstGeom>
          <a:noFill/>
          <a:ln/>
        </p:spPr>
        <p:txBody>
          <a:bodyPr wrap="square" lIns="0" tIns="0" rIns="0" bIns="0" rtlCol="0" anchor="t"/>
          <a:lstStyle/>
          <a:p>
            <a:pPr marL="0" indent="0">
              <a:buNone/>
            </a:pPr>
            <a:r>
              <a:rPr lang="en-US" sz="1250" dirty="0">
                <a:solidFill>
                  <a:srgbClr val="5C6E68"/>
                </a:solidFill>
                <a:latin typeface="Calibri" pitchFamily="34" charset="0"/>
                <a:ea typeface="Calibri" pitchFamily="34" charset="-122"/>
                <a:cs typeface="Calibri" pitchFamily="34" charset="-120"/>
              </a:rPr>
              <a:t>Akkreditatsiyalangan tekshiruvchi</a:t>
            </a:r>
            <a:endParaRPr lang="en-US" sz="1250" dirty="0"/>
          </a:p>
        </p:txBody>
      </p:sp>
      <p:sp>
        <p:nvSpPr>
          <p:cNvPr id="24" name="Shina tik"/>
          <p:cNvSpPr/>
          <p:nvPr/>
        </p:nvSpPr>
        <p:spPr>
          <a:xfrm>
            <a:off x="10204704" y="3566160"/>
            <a:ext cx="0" cy="475488"/>
          </a:xfrm>
          <a:prstGeom prst="line">
            <a:avLst/>
          </a:prstGeom>
          <a:noFill/>
          <a:ln w="25400">
            <a:solidFill>
              <a:srgbClr val="7E918A"/>
            </a:solidFill>
            <a:prstDash val="solid"/>
          </a:ln>
        </p:spPr>
      </p:sp>
      <p:sp>
        <p:nvSpPr>
          <p:cNvPr id="25" name="Shina"/>
          <p:cNvSpPr/>
          <p:nvPr/>
        </p:nvSpPr>
        <p:spPr>
          <a:xfrm>
            <a:off x="2464308" y="4041648"/>
            <a:ext cx="7740396" cy="0"/>
          </a:xfrm>
          <a:prstGeom prst="line">
            <a:avLst/>
          </a:prstGeom>
          <a:noFill/>
          <a:ln w="25400">
            <a:solidFill>
              <a:srgbClr val="7E918A"/>
            </a:solidFill>
            <a:prstDash val="solid"/>
          </a:ln>
        </p:spPr>
      </p:sp>
      <p:sp>
        <p:nvSpPr>
          <p:cNvPr id="26" name="Chiqish strelkasi 1"/>
          <p:cNvSpPr/>
          <p:nvPr/>
        </p:nvSpPr>
        <p:spPr>
          <a:xfrm>
            <a:off x="2464308" y="4041648"/>
            <a:ext cx="0" cy="402336"/>
          </a:xfrm>
          <a:prstGeom prst="line">
            <a:avLst/>
          </a:prstGeom>
          <a:noFill/>
          <a:ln w="25400">
            <a:solidFill>
              <a:srgbClr val="7E918A"/>
            </a:solidFill>
            <a:prstDash val="solid"/>
            <a:tailEnd type="triangle"/>
          </a:ln>
        </p:spPr>
      </p:sp>
      <p:sp>
        <p:nvSpPr>
          <p:cNvPr id="27" name="Natija 1"/>
          <p:cNvSpPr/>
          <p:nvPr/>
        </p:nvSpPr>
        <p:spPr>
          <a:xfrm>
            <a:off x="813816" y="4443984"/>
            <a:ext cx="3300984" cy="1014984"/>
          </a:xfrm>
          <a:prstGeom prst="roundRect">
            <a:avLst>
              <a:gd name="adj" fmla="val 10811"/>
            </a:avLst>
          </a:prstGeom>
          <a:solidFill>
            <a:srgbClr val="E1ECE7"/>
          </a:solidFill>
          <a:ln w="12700">
            <a:solidFill>
              <a:srgbClr val="E1ECE7"/>
            </a:solidFill>
            <a:prstDash val="solid"/>
          </a:ln>
        </p:spPr>
      </p:sp>
      <p:sp>
        <p:nvSpPr>
          <p:cNvPr id="28" name="Text 25"/>
          <p:cNvSpPr txBox="1"/>
          <p:nvPr/>
        </p:nvSpPr>
        <p:spPr>
          <a:xfrm>
            <a:off x="1014984" y="4626864"/>
            <a:ext cx="2898648" cy="365760"/>
          </a:xfrm>
          <a:prstGeom prst="rect">
            <a:avLst/>
          </a:prstGeom>
          <a:noFill/>
          <a:ln/>
        </p:spPr>
        <p:txBody>
          <a:bodyPr wrap="square" lIns="0" tIns="0" rIns="0" bIns="0" rtlCol="0" anchor="t"/>
          <a:lstStyle/>
          <a:p>
            <a:pPr marL="0" indent="0">
              <a:buNone/>
            </a:pPr>
            <a:r>
              <a:rPr lang="en-US" sz="1700" b="1" dirty="0">
                <a:solidFill>
                  <a:srgbClr val="0B5E4A"/>
                </a:solidFill>
                <a:latin typeface="Calibri" pitchFamily="34" charset="0"/>
                <a:ea typeface="Calibri" pitchFamily="34" charset="-122"/>
                <a:cs typeface="Calibri" pitchFamily="34" charset="-120"/>
              </a:rPr>
              <a:t>Xorijiy importyor</a:t>
            </a:r>
            <a:endParaRPr lang="en-US" sz="1700" dirty="0"/>
          </a:p>
        </p:txBody>
      </p:sp>
      <p:sp>
        <p:nvSpPr>
          <p:cNvPr id="29" name="Text 26"/>
          <p:cNvSpPr txBox="1"/>
          <p:nvPr/>
        </p:nvSpPr>
        <p:spPr>
          <a:xfrm>
            <a:off x="1014984" y="4992624"/>
            <a:ext cx="2898648" cy="320040"/>
          </a:xfrm>
          <a:prstGeom prst="rect">
            <a:avLst/>
          </a:prstGeom>
          <a:noFill/>
          <a:ln/>
        </p:spPr>
        <p:txBody>
          <a:bodyPr wrap="square" lIns="0" tIns="0" rIns="0" bIns="0" rtlCol="0" anchor="t"/>
          <a:lstStyle/>
          <a:p>
            <a:pPr marL="0" indent="0">
              <a:buNone/>
            </a:pPr>
            <a:r>
              <a:rPr lang="en-US" sz="1300" dirty="0">
                <a:solidFill>
                  <a:srgbClr val="3E4F49"/>
                </a:solidFill>
                <a:latin typeface="Calibri" pitchFamily="34" charset="0"/>
                <a:ea typeface="Calibri" pitchFamily="34" charset="-122"/>
                <a:cs typeface="Calibri" pitchFamily="34" charset="-120"/>
              </a:rPr>
              <a:t>CBAM ma’lumotlari shabloni</a:t>
            </a:r>
            <a:endParaRPr lang="en-US" sz="1300" dirty="0"/>
          </a:p>
        </p:txBody>
      </p:sp>
      <p:sp>
        <p:nvSpPr>
          <p:cNvPr id="30" name="Chiqish strelkasi 2"/>
          <p:cNvSpPr/>
          <p:nvPr/>
        </p:nvSpPr>
        <p:spPr>
          <a:xfrm>
            <a:off x="6094476" y="4041648"/>
            <a:ext cx="0" cy="402336"/>
          </a:xfrm>
          <a:prstGeom prst="line">
            <a:avLst/>
          </a:prstGeom>
          <a:noFill/>
          <a:ln w="25400">
            <a:solidFill>
              <a:srgbClr val="7E918A"/>
            </a:solidFill>
            <a:prstDash val="solid"/>
            <a:tailEnd type="triangle"/>
          </a:ln>
        </p:spPr>
      </p:sp>
      <p:sp>
        <p:nvSpPr>
          <p:cNvPr id="31" name="Natija 2"/>
          <p:cNvSpPr/>
          <p:nvPr/>
        </p:nvSpPr>
        <p:spPr>
          <a:xfrm>
            <a:off x="4443984" y="4443984"/>
            <a:ext cx="3300984" cy="1014984"/>
          </a:xfrm>
          <a:prstGeom prst="roundRect">
            <a:avLst>
              <a:gd name="adj" fmla="val 10811"/>
            </a:avLst>
          </a:prstGeom>
          <a:solidFill>
            <a:srgbClr val="E1ECE7"/>
          </a:solidFill>
          <a:ln w="12700">
            <a:solidFill>
              <a:srgbClr val="E1ECE7"/>
            </a:solidFill>
            <a:prstDash val="solid"/>
          </a:ln>
        </p:spPr>
      </p:sp>
      <p:sp>
        <p:nvSpPr>
          <p:cNvPr id="32" name="Text 29"/>
          <p:cNvSpPr txBox="1"/>
          <p:nvPr/>
        </p:nvSpPr>
        <p:spPr>
          <a:xfrm>
            <a:off x="4645152" y="4626864"/>
            <a:ext cx="2898648" cy="365760"/>
          </a:xfrm>
          <a:prstGeom prst="rect">
            <a:avLst/>
          </a:prstGeom>
          <a:noFill/>
          <a:ln/>
        </p:spPr>
        <p:txBody>
          <a:bodyPr wrap="square" lIns="0" tIns="0" rIns="0" bIns="0" rtlCol="0" anchor="t"/>
          <a:lstStyle/>
          <a:p>
            <a:pPr marL="0" indent="0">
              <a:buNone/>
            </a:pPr>
            <a:r>
              <a:rPr lang="en-US" sz="1700" b="1" dirty="0">
                <a:solidFill>
                  <a:srgbClr val="0B5E4A"/>
                </a:solidFill>
                <a:latin typeface="Calibri" pitchFamily="34" charset="0"/>
                <a:ea typeface="Calibri" pitchFamily="34" charset="-122"/>
                <a:cs typeface="Calibri" pitchFamily="34" charset="-120"/>
              </a:rPr>
              <a:t>Soliq qo‘mitasi</a:t>
            </a:r>
            <a:endParaRPr lang="en-US" sz="1700" dirty="0"/>
          </a:p>
        </p:txBody>
      </p:sp>
      <p:sp>
        <p:nvSpPr>
          <p:cNvPr id="33" name="Text 30"/>
          <p:cNvSpPr txBox="1"/>
          <p:nvPr/>
        </p:nvSpPr>
        <p:spPr>
          <a:xfrm>
            <a:off x="4645152" y="4992624"/>
            <a:ext cx="2898648" cy="320040"/>
          </a:xfrm>
          <a:prstGeom prst="rect">
            <a:avLst/>
          </a:prstGeom>
          <a:noFill/>
          <a:ln/>
        </p:spPr>
        <p:txBody>
          <a:bodyPr wrap="square" lIns="0" tIns="0" rIns="0" bIns="0" rtlCol="0" anchor="t"/>
          <a:lstStyle/>
          <a:p>
            <a:pPr marL="0" indent="0">
              <a:buNone/>
            </a:pPr>
            <a:r>
              <a:rPr lang="en-US" sz="1300" dirty="0">
                <a:solidFill>
                  <a:srgbClr val="3E4F49"/>
                </a:solidFill>
                <a:latin typeface="Calibri" pitchFamily="34" charset="0"/>
                <a:ea typeface="Calibri" pitchFamily="34" charset="-122"/>
                <a:cs typeface="Calibri" pitchFamily="34" charset="-120"/>
              </a:rPr>
              <a:t>Milliy uglerod to‘lovi</a:t>
            </a:r>
            <a:endParaRPr lang="en-US" sz="1300" dirty="0"/>
          </a:p>
        </p:txBody>
      </p:sp>
      <p:sp>
        <p:nvSpPr>
          <p:cNvPr id="34" name="Chiqish strelkasi 3"/>
          <p:cNvSpPr/>
          <p:nvPr/>
        </p:nvSpPr>
        <p:spPr>
          <a:xfrm>
            <a:off x="9724644" y="4041648"/>
            <a:ext cx="0" cy="402336"/>
          </a:xfrm>
          <a:prstGeom prst="line">
            <a:avLst/>
          </a:prstGeom>
          <a:noFill/>
          <a:ln w="25400">
            <a:solidFill>
              <a:srgbClr val="7E918A"/>
            </a:solidFill>
            <a:prstDash val="solid"/>
            <a:tailEnd type="triangle"/>
          </a:ln>
        </p:spPr>
      </p:sp>
      <p:sp>
        <p:nvSpPr>
          <p:cNvPr id="35" name="Natija 3"/>
          <p:cNvSpPr/>
          <p:nvPr/>
        </p:nvSpPr>
        <p:spPr>
          <a:xfrm>
            <a:off x="8074152" y="4443984"/>
            <a:ext cx="3300984" cy="1014984"/>
          </a:xfrm>
          <a:prstGeom prst="roundRect">
            <a:avLst>
              <a:gd name="adj" fmla="val 10811"/>
            </a:avLst>
          </a:prstGeom>
          <a:solidFill>
            <a:srgbClr val="E1ECE7"/>
          </a:solidFill>
          <a:ln w="12700">
            <a:solidFill>
              <a:srgbClr val="E1ECE7"/>
            </a:solidFill>
            <a:prstDash val="solid"/>
          </a:ln>
        </p:spPr>
      </p:sp>
      <p:sp>
        <p:nvSpPr>
          <p:cNvPr id="36" name="Text 33"/>
          <p:cNvSpPr txBox="1"/>
          <p:nvPr/>
        </p:nvSpPr>
        <p:spPr>
          <a:xfrm>
            <a:off x="8275320" y="4626864"/>
            <a:ext cx="2898648" cy="365760"/>
          </a:xfrm>
          <a:prstGeom prst="rect">
            <a:avLst/>
          </a:prstGeom>
          <a:noFill/>
          <a:ln/>
        </p:spPr>
        <p:txBody>
          <a:bodyPr wrap="square" lIns="0" tIns="0" rIns="0" bIns="0" rtlCol="0" anchor="t"/>
          <a:lstStyle/>
          <a:p>
            <a:pPr marL="0" indent="0">
              <a:buNone/>
            </a:pPr>
            <a:r>
              <a:rPr lang="en-US" sz="1700" b="1" dirty="0">
                <a:solidFill>
                  <a:srgbClr val="0B5E4A"/>
                </a:solidFill>
                <a:latin typeface="Calibri" pitchFamily="34" charset="0"/>
                <a:ea typeface="Calibri" pitchFamily="34" charset="-122"/>
                <a:cs typeface="Calibri" pitchFamily="34" charset="-120"/>
              </a:rPr>
              <a:t>Davlat monitoring paneli</a:t>
            </a:r>
            <a:endParaRPr lang="en-US" sz="1700" dirty="0"/>
          </a:p>
        </p:txBody>
      </p:sp>
      <p:sp>
        <p:nvSpPr>
          <p:cNvPr id="37" name="Text 34"/>
          <p:cNvSpPr txBox="1"/>
          <p:nvPr/>
        </p:nvSpPr>
        <p:spPr>
          <a:xfrm>
            <a:off x="8275320" y="4992624"/>
            <a:ext cx="2898648" cy="320040"/>
          </a:xfrm>
          <a:prstGeom prst="rect">
            <a:avLst/>
          </a:prstGeom>
          <a:noFill/>
          <a:ln/>
        </p:spPr>
        <p:txBody>
          <a:bodyPr wrap="square" lIns="0" tIns="0" rIns="0" bIns="0" rtlCol="0" anchor="t"/>
          <a:lstStyle/>
          <a:p>
            <a:pPr marL="0" indent="0">
              <a:buNone/>
            </a:pPr>
            <a:r>
              <a:rPr lang="en-US" sz="1300" dirty="0">
                <a:solidFill>
                  <a:srgbClr val="3E4F49"/>
                </a:solidFill>
                <a:latin typeface="Calibri" pitchFamily="34" charset="0"/>
                <a:ea typeface="Calibri" pitchFamily="34" charset="-122"/>
                <a:cs typeface="Calibri" pitchFamily="34" charset="-120"/>
              </a:rPr>
              <a:t>Tarmoq va hudud kesimi</a:t>
            </a:r>
            <a:endParaRPr lang="en-US" sz="1300" dirty="0"/>
          </a:p>
        </p:txBody>
      </p:sp>
      <p:sp>
        <p:nvSpPr>
          <p:cNvPr id="4"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C76"/>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0B7A5F"/>
                </a:solidFill>
                <a:latin typeface="Calibri" pitchFamily="34" charset="0"/>
                <a:ea typeface="Calibri" pitchFamily="34" charset="-122"/>
                <a:cs typeface="Calibri" pitchFamily="34" charset="-120"/>
              </a:rPr>
              <a:t>USLUBIYOT</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14241F"/>
                </a:solidFill>
                <a:latin typeface="Arial" pitchFamily="34" charset="0"/>
                <a:ea typeface="Arial" pitchFamily="34" charset="-122"/>
                <a:cs typeface="Arial" pitchFamily="34" charset="-120"/>
              </a:rPr>
              <a:t>Har bir raqamning formulasi bor</a:t>
            </a:r>
            <a:endParaRPr lang="en-US" sz="3200" dirty="0"/>
          </a:p>
        </p:txBody>
      </p:sp>
      <p:sp>
        <p:nvSpPr>
          <p:cNvPr id="5" name="Formula 1"/>
          <p:cNvSpPr/>
          <p:nvPr/>
        </p:nvSpPr>
        <p:spPr>
          <a:xfrm>
            <a:off x="813816" y="2011680"/>
            <a:ext cx="5148072" cy="1691640"/>
          </a:xfrm>
          <a:prstGeom prst="roundRect">
            <a:avLst>
              <a:gd name="adj" fmla="val 6486"/>
            </a:avLst>
          </a:prstGeom>
          <a:solidFill>
            <a:srgbClr val="FFFFFF"/>
          </a:solidFill>
          <a:ln w="9525">
            <a:solidFill>
              <a:srgbClr val="D6E0DB"/>
            </a:solidFill>
            <a:prstDash val="solid"/>
          </a:ln>
        </p:spPr>
      </p:sp>
      <p:sp>
        <p:nvSpPr>
          <p:cNvPr id="6" name="Text 3"/>
          <p:cNvSpPr txBox="1"/>
          <p:nvPr/>
        </p:nvSpPr>
        <p:spPr>
          <a:xfrm>
            <a:off x="1088136" y="2212848"/>
            <a:ext cx="4599432" cy="292608"/>
          </a:xfrm>
          <a:prstGeom prst="rect">
            <a:avLst/>
          </a:prstGeom>
          <a:noFill/>
          <a:ln/>
        </p:spPr>
        <p:txBody>
          <a:bodyPr wrap="square" lIns="0" tIns="0" rIns="0" bIns="0" rtlCol="0" anchor="t"/>
          <a:lstStyle/>
          <a:p>
            <a:pPr marL="0" indent="0">
              <a:buNone/>
            </a:pPr>
            <a:r>
              <a:rPr lang="en-US" sz="1400" b="1" dirty="0">
                <a:solidFill>
                  <a:srgbClr val="5C6E68"/>
                </a:solidFill>
                <a:latin typeface="Calibri" pitchFamily="34" charset="0"/>
                <a:ea typeface="Calibri" pitchFamily="34" charset="-122"/>
                <a:cs typeface="Calibri" pitchFamily="34" charset="-120"/>
              </a:rPr>
              <a:t>1 · Yoqish emissiyalari</a:t>
            </a:r>
            <a:endParaRPr lang="en-US" sz="1400" dirty="0"/>
          </a:p>
        </p:txBody>
      </p:sp>
      <p:sp>
        <p:nvSpPr>
          <p:cNvPr id="7" name="Text 4"/>
          <p:cNvSpPr txBox="1"/>
          <p:nvPr/>
        </p:nvSpPr>
        <p:spPr>
          <a:xfrm>
            <a:off x="1088136" y="2560320"/>
            <a:ext cx="4599432" cy="457200"/>
          </a:xfrm>
          <a:prstGeom prst="rect">
            <a:avLst/>
          </a:prstGeom>
          <a:noFill/>
          <a:ln/>
        </p:spPr>
        <p:txBody>
          <a:bodyPr wrap="square" lIns="0" tIns="0" rIns="0" bIns="0" rtlCol="0" anchor="t"/>
          <a:lstStyle/>
          <a:p>
            <a:pPr marL="0" indent="0">
              <a:buNone/>
            </a:pPr>
            <a:r>
              <a:rPr lang="en-US" sz="2000" b="1" dirty="0">
                <a:solidFill>
                  <a:srgbClr val="0B7A5F"/>
                </a:solidFill>
                <a:latin typeface="Courier New" pitchFamily="34" charset="0"/>
                <a:ea typeface="Courier New" pitchFamily="34" charset="-122"/>
                <a:cs typeface="Courier New" pitchFamily="34" charset="-120"/>
              </a:rPr>
              <a:t>Em = sarf × NCV × EF</a:t>
            </a:r>
            <a:endParaRPr lang="en-US" sz="2000" dirty="0"/>
          </a:p>
        </p:txBody>
      </p:sp>
      <p:sp>
        <p:nvSpPr>
          <p:cNvPr id="8" name="Text 5"/>
          <p:cNvSpPr txBox="1"/>
          <p:nvPr/>
        </p:nvSpPr>
        <p:spPr>
          <a:xfrm>
            <a:off x="1088136" y="3063240"/>
            <a:ext cx="4599432" cy="548640"/>
          </a:xfrm>
          <a:prstGeom prst="rect">
            <a:avLst/>
          </a:prstGeom>
          <a:noFill/>
          <a:ln/>
        </p:spPr>
        <p:txBody>
          <a:bodyPr wrap="square" lIns="0" tIns="0" rIns="0" bIns="0" rtlCol="0" anchor="t"/>
          <a:lstStyle/>
          <a:p>
            <a:pPr marL="0" indent="0">
              <a:buNone/>
            </a:pPr>
            <a:r>
              <a:rPr lang="en-US" sz="1350" dirty="0">
                <a:solidFill>
                  <a:srgbClr val="3E4F49"/>
                </a:solidFill>
                <a:latin typeface="Calibri" pitchFamily="34" charset="0"/>
                <a:ea typeface="Calibri" pitchFamily="34" charset="-122"/>
                <a:cs typeface="Calibri" pitchFamily="34" charset="-120"/>
              </a:rPr>
              <a:t>IPCC 2006 koeffitsiyentlari: tabiiy gaz 56,1 t CO₂/TJ, ko‘mir 94,6–101</a:t>
            </a:r>
            <a:endParaRPr lang="en-US" sz="1350" dirty="0"/>
          </a:p>
        </p:txBody>
      </p:sp>
      <p:sp>
        <p:nvSpPr>
          <p:cNvPr id="9" name="Formula 2"/>
          <p:cNvSpPr/>
          <p:nvPr/>
        </p:nvSpPr>
        <p:spPr>
          <a:xfrm>
            <a:off x="6236208" y="2011680"/>
            <a:ext cx="5148072" cy="1691640"/>
          </a:xfrm>
          <a:prstGeom prst="roundRect">
            <a:avLst>
              <a:gd name="adj" fmla="val 6486"/>
            </a:avLst>
          </a:prstGeom>
          <a:solidFill>
            <a:srgbClr val="FFFFFF"/>
          </a:solidFill>
          <a:ln w="9525">
            <a:solidFill>
              <a:srgbClr val="D6E0DB"/>
            </a:solidFill>
            <a:prstDash val="solid"/>
          </a:ln>
        </p:spPr>
      </p:sp>
      <p:sp>
        <p:nvSpPr>
          <p:cNvPr id="10" name="Text 7"/>
          <p:cNvSpPr txBox="1"/>
          <p:nvPr/>
        </p:nvSpPr>
        <p:spPr>
          <a:xfrm>
            <a:off x="6510528" y="2212848"/>
            <a:ext cx="4599432" cy="292608"/>
          </a:xfrm>
          <a:prstGeom prst="rect">
            <a:avLst/>
          </a:prstGeom>
          <a:noFill/>
          <a:ln/>
        </p:spPr>
        <p:txBody>
          <a:bodyPr wrap="square" lIns="0" tIns="0" rIns="0" bIns="0" rtlCol="0" anchor="t"/>
          <a:lstStyle/>
          <a:p>
            <a:pPr marL="0" indent="0">
              <a:buNone/>
            </a:pPr>
            <a:r>
              <a:rPr lang="en-US" sz="1400" b="1" dirty="0">
                <a:solidFill>
                  <a:srgbClr val="5C6E68"/>
                </a:solidFill>
                <a:latin typeface="Calibri" pitchFamily="34" charset="0"/>
                <a:ea typeface="Calibri" pitchFamily="34" charset="-122"/>
                <a:cs typeface="Calibri" pitchFamily="34" charset="-120"/>
              </a:rPr>
              <a:t>2 · Mahsulot birligidagi emissiya</a:t>
            </a:r>
            <a:endParaRPr lang="en-US" sz="1400" dirty="0"/>
          </a:p>
        </p:txBody>
      </p:sp>
      <p:sp>
        <p:nvSpPr>
          <p:cNvPr id="11" name="Text 8"/>
          <p:cNvSpPr txBox="1"/>
          <p:nvPr/>
        </p:nvSpPr>
        <p:spPr>
          <a:xfrm>
            <a:off x="6510528" y="2560320"/>
            <a:ext cx="4599432" cy="457200"/>
          </a:xfrm>
          <a:prstGeom prst="rect">
            <a:avLst/>
          </a:prstGeom>
          <a:noFill/>
          <a:ln/>
        </p:spPr>
        <p:txBody>
          <a:bodyPr wrap="square" lIns="0" tIns="0" rIns="0" bIns="0" rtlCol="0" anchor="t"/>
          <a:lstStyle/>
          <a:p>
            <a:pPr marL="0" indent="0">
              <a:buNone/>
            </a:pPr>
            <a:r>
              <a:rPr lang="en-US" sz="2000" b="1" dirty="0">
                <a:solidFill>
                  <a:srgbClr val="0B7A5F"/>
                </a:solidFill>
                <a:latin typeface="Courier New" pitchFamily="34" charset="0"/>
                <a:ea typeface="Courier New" pitchFamily="34" charset="-122"/>
                <a:cs typeface="Courier New" pitchFamily="34" charset="-120"/>
              </a:rPr>
              <a:t>SEE = (Em + Em_el + Em_pr) / Q</a:t>
            </a:r>
            <a:endParaRPr lang="en-US" sz="2000" dirty="0"/>
          </a:p>
        </p:txBody>
      </p:sp>
      <p:sp>
        <p:nvSpPr>
          <p:cNvPr id="12" name="Text 9"/>
          <p:cNvSpPr txBox="1"/>
          <p:nvPr/>
        </p:nvSpPr>
        <p:spPr>
          <a:xfrm>
            <a:off x="6510528" y="3063240"/>
            <a:ext cx="4599432" cy="548640"/>
          </a:xfrm>
          <a:prstGeom prst="rect">
            <a:avLst/>
          </a:prstGeom>
          <a:noFill/>
          <a:ln/>
        </p:spPr>
        <p:txBody>
          <a:bodyPr wrap="square" lIns="0" tIns="0" rIns="0" bIns="0" rtlCol="0" anchor="t"/>
          <a:lstStyle/>
          <a:p>
            <a:pPr marL="0" indent="0">
              <a:buNone/>
            </a:pPr>
            <a:r>
              <a:rPr lang="en-US" sz="1350" dirty="0">
                <a:solidFill>
                  <a:srgbClr val="3E4F49"/>
                </a:solidFill>
                <a:latin typeface="Calibri" pitchFamily="34" charset="0"/>
                <a:ea typeface="Calibri" pitchFamily="34" charset="-122"/>
                <a:cs typeface="Calibri" pitchFamily="34" charset="-120"/>
              </a:rPr>
              <a:t>Elektr emissiyasi faqat sement va o‘g‘itda qo‘shiladi; prekursorlar ham hisobga olinadi</a:t>
            </a:r>
            <a:endParaRPr lang="en-US" sz="1350" dirty="0"/>
          </a:p>
        </p:txBody>
      </p:sp>
      <p:sp>
        <p:nvSpPr>
          <p:cNvPr id="13" name="Formula 3"/>
          <p:cNvSpPr/>
          <p:nvPr/>
        </p:nvSpPr>
        <p:spPr>
          <a:xfrm>
            <a:off x="813816" y="3977640"/>
            <a:ext cx="5148072" cy="1691640"/>
          </a:xfrm>
          <a:prstGeom prst="roundRect">
            <a:avLst>
              <a:gd name="adj" fmla="val 6486"/>
            </a:avLst>
          </a:prstGeom>
          <a:solidFill>
            <a:srgbClr val="FFFFFF"/>
          </a:solidFill>
          <a:ln w="9525">
            <a:solidFill>
              <a:srgbClr val="D6E0DB"/>
            </a:solidFill>
            <a:prstDash val="solid"/>
          </a:ln>
        </p:spPr>
      </p:sp>
      <p:sp>
        <p:nvSpPr>
          <p:cNvPr id="14" name="Text 11"/>
          <p:cNvSpPr txBox="1"/>
          <p:nvPr/>
        </p:nvSpPr>
        <p:spPr>
          <a:xfrm>
            <a:off x="1088136" y="4178808"/>
            <a:ext cx="4599432" cy="292608"/>
          </a:xfrm>
          <a:prstGeom prst="rect">
            <a:avLst/>
          </a:prstGeom>
          <a:noFill/>
          <a:ln/>
        </p:spPr>
        <p:txBody>
          <a:bodyPr wrap="square" lIns="0" tIns="0" rIns="0" bIns="0" rtlCol="0" anchor="t"/>
          <a:lstStyle/>
          <a:p>
            <a:pPr marL="0" indent="0">
              <a:buNone/>
            </a:pPr>
            <a:r>
              <a:rPr lang="en-US" sz="1400" b="1" dirty="0">
                <a:solidFill>
                  <a:srgbClr val="5C6E68"/>
                </a:solidFill>
                <a:latin typeface="Calibri" pitchFamily="34" charset="0"/>
                <a:ea typeface="Calibri" pitchFamily="34" charset="-122"/>
                <a:cs typeface="Calibri" pitchFamily="34" charset="-120"/>
              </a:rPr>
              <a:t>3 · CBAM sertifikatlari soni</a:t>
            </a:r>
            <a:endParaRPr lang="en-US" sz="1400" dirty="0"/>
          </a:p>
        </p:txBody>
      </p:sp>
      <p:sp>
        <p:nvSpPr>
          <p:cNvPr id="15" name="Text 12"/>
          <p:cNvSpPr txBox="1"/>
          <p:nvPr/>
        </p:nvSpPr>
        <p:spPr>
          <a:xfrm>
            <a:off x="1088136" y="4526280"/>
            <a:ext cx="4599432" cy="457200"/>
          </a:xfrm>
          <a:prstGeom prst="rect">
            <a:avLst/>
          </a:prstGeom>
          <a:noFill/>
          <a:ln/>
        </p:spPr>
        <p:txBody>
          <a:bodyPr wrap="square" lIns="0" tIns="0" rIns="0" bIns="0" rtlCol="0" anchor="t"/>
          <a:lstStyle/>
          <a:p>
            <a:pPr marL="0" indent="0">
              <a:buNone/>
            </a:pPr>
            <a:r>
              <a:rPr lang="en-US" sz="2000" b="1" dirty="0">
                <a:solidFill>
                  <a:srgbClr val="0B7A5F"/>
                </a:solidFill>
                <a:latin typeface="Courier New" pitchFamily="34" charset="0"/>
                <a:ea typeface="Courier New" pitchFamily="34" charset="-122"/>
                <a:cs typeface="Courier New" pitchFamily="34" charset="-120"/>
              </a:rPr>
              <a:t>N = max(0; SEE·M − BM·CF·M)</a:t>
            </a:r>
            <a:endParaRPr lang="en-US" sz="2000" dirty="0"/>
          </a:p>
        </p:txBody>
      </p:sp>
      <p:sp>
        <p:nvSpPr>
          <p:cNvPr id="16" name="Text 13"/>
          <p:cNvSpPr txBox="1"/>
          <p:nvPr/>
        </p:nvSpPr>
        <p:spPr>
          <a:xfrm>
            <a:off x="1088136" y="5029200"/>
            <a:ext cx="4599432" cy="548640"/>
          </a:xfrm>
          <a:prstGeom prst="rect">
            <a:avLst/>
          </a:prstGeom>
          <a:noFill/>
          <a:ln/>
        </p:spPr>
        <p:txBody>
          <a:bodyPr wrap="square" lIns="0" tIns="0" rIns="0" bIns="0" rtlCol="0" anchor="t"/>
          <a:lstStyle/>
          <a:p>
            <a:pPr marL="0" indent="0">
              <a:buNone/>
            </a:pPr>
            <a:r>
              <a:rPr lang="en-US" sz="1350" dirty="0">
                <a:solidFill>
                  <a:srgbClr val="3E4F49"/>
                </a:solidFill>
                <a:latin typeface="Calibri" pitchFamily="34" charset="0"/>
                <a:ea typeface="Calibri" pitchFamily="34" charset="-122"/>
                <a:cs typeface="Calibri" pitchFamily="34" charset="-120"/>
              </a:rPr>
              <a:t>M — Yevropa Ittifoqiga eksport, BM — EU ETS benchmark, CF — saqlanayotgan bepul kvota ulushi</a:t>
            </a:r>
            <a:endParaRPr lang="en-US" sz="1350" dirty="0"/>
          </a:p>
        </p:txBody>
      </p:sp>
      <p:sp>
        <p:nvSpPr>
          <p:cNvPr id="17" name="Formula 4"/>
          <p:cNvSpPr/>
          <p:nvPr/>
        </p:nvSpPr>
        <p:spPr>
          <a:xfrm>
            <a:off x="6236208" y="3977640"/>
            <a:ext cx="5148072" cy="1691640"/>
          </a:xfrm>
          <a:prstGeom prst="roundRect">
            <a:avLst>
              <a:gd name="adj" fmla="val 6486"/>
            </a:avLst>
          </a:prstGeom>
          <a:solidFill>
            <a:srgbClr val="10201C"/>
          </a:solidFill>
          <a:ln w="12700">
            <a:solidFill>
              <a:srgbClr val="10201C"/>
            </a:solidFill>
            <a:prstDash val="solid"/>
          </a:ln>
        </p:spPr>
      </p:sp>
      <p:sp>
        <p:nvSpPr>
          <p:cNvPr id="18" name="Text 15"/>
          <p:cNvSpPr txBox="1"/>
          <p:nvPr/>
        </p:nvSpPr>
        <p:spPr>
          <a:xfrm>
            <a:off x="6510528" y="4178808"/>
            <a:ext cx="4599432" cy="292608"/>
          </a:xfrm>
          <a:prstGeom prst="rect">
            <a:avLst/>
          </a:prstGeom>
          <a:noFill/>
          <a:ln/>
        </p:spPr>
        <p:txBody>
          <a:bodyPr wrap="square" lIns="0" tIns="0" rIns="0" bIns="0" rtlCol="0" anchor="t"/>
          <a:lstStyle/>
          <a:p>
            <a:pPr marL="0" indent="0">
              <a:buNone/>
            </a:pPr>
            <a:r>
              <a:rPr lang="en-US" sz="1400" b="1" dirty="0">
                <a:solidFill>
                  <a:srgbClr val="B9CCC5"/>
                </a:solidFill>
                <a:latin typeface="Calibri" pitchFamily="34" charset="0"/>
                <a:ea typeface="Calibri" pitchFamily="34" charset="-122"/>
                <a:cs typeface="Calibri" pitchFamily="34" charset="-120"/>
              </a:rPr>
              <a:t>4 · CBAM sof xarajati</a:t>
            </a:r>
            <a:endParaRPr lang="en-US" sz="1400" dirty="0"/>
          </a:p>
        </p:txBody>
      </p:sp>
      <p:sp>
        <p:nvSpPr>
          <p:cNvPr id="19" name="Text 16"/>
          <p:cNvSpPr txBox="1"/>
          <p:nvPr/>
        </p:nvSpPr>
        <p:spPr>
          <a:xfrm>
            <a:off x="6510528" y="4526280"/>
            <a:ext cx="4599432" cy="457200"/>
          </a:xfrm>
          <a:prstGeom prst="rect">
            <a:avLst/>
          </a:prstGeom>
          <a:noFill/>
          <a:ln/>
        </p:spPr>
        <p:txBody>
          <a:bodyPr wrap="square" lIns="0" tIns="0" rIns="0" bIns="0" rtlCol="0" anchor="t"/>
          <a:lstStyle/>
          <a:p>
            <a:pPr marL="0" indent="0">
              <a:buNone/>
            </a:pPr>
            <a:r>
              <a:rPr lang="en-US" sz="2000" b="1" dirty="0">
                <a:solidFill>
                  <a:srgbClr val="E3A64A"/>
                </a:solidFill>
                <a:latin typeface="Courier New" pitchFamily="34" charset="0"/>
                <a:ea typeface="Courier New" pitchFamily="34" charset="-122"/>
                <a:cs typeface="Courier New" pitchFamily="34" charset="-120"/>
              </a:rPr>
              <a:t>C = N·P_ETS − N·P_milliy</a:t>
            </a:r>
            <a:endParaRPr lang="en-US" sz="2000" dirty="0"/>
          </a:p>
        </p:txBody>
      </p:sp>
      <p:sp>
        <p:nvSpPr>
          <p:cNvPr id="20" name="Text 17"/>
          <p:cNvSpPr txBox="1"/>
          <p:nvPr/>
        </p:nvSpPr>
        <p:spPr>
          <a:xfrm>
            <a:off x="6510528" y="5029200"/>
            <a:ext cx="4599432" cy="548640"/>
          </a:xfrm>
          <a:prstGeom prst="rect">
            <a:avLst/>
          </a:prstGeom>
          <a:noFill/>
          <a:ln/>
        </p:spPr>
        <p:txBody>
          <a:bodyPr wrap="square" lIns="0" tIns="0" rIns="0" bIns="0" rtlCol="0" anchor="t"/>
          <a:lstStyle/>
          <a:p>
            <a:pPr marL="0" indent="0">
              <a:buNone/>
            </a:pPr>
            <a:r>
              <a:rPr lang="en-US" sz="1350" dirty="0">
                <a:solidFill>
                  <a:srgbClr val="B9CCC5"/>
                </a:solidFill>
                <a:latin typeface="Calibri" pitchFamily="34" charset="0"/>
                <a:ea typeface="Calibri" pitchFamily="34" charset="-122"/>
                <a:cs typeface="Calibri" pitchFamily="34" charset="-120"/>
              </a:rPr>
              <a:t>O‘zbekistonda to‘langan uglerod narxi CBAM to‘lovidan chegiriladi</a:t>
            </a:r>
            <a:endParaRPr lang="en-US" sz="1350" dirty="0"/>
          </a:p>
        </p:txBody>
      </p:sp>
      <p:sp>
        <p:nvSpPr>
          <p:cNvPr id="21" name="Izoh"/>
          <p:cNvSpPr txBox="1"/>
          <p:nvPr/>
        </p:nvSpPr>
        <p:spPr>
          <a:xfrm>
            <a:off x="813816" y="6355080"/>
            <a:ext cx="9875520" cy="274320"/>
          </a:xfrm>
          <a:prstGeom prst="rect">
            <a:avLst/>
          </a:prstGeom>
          <a:noFill/>
          <a:ln/>
        </p:spPr>
        <p:txBody>
          <a:bodyPr wrap="square" lIns="0" tIns="0" rIns="0" bIns="0" rtlCol="0" anchor="ctr"/>
          <a:lstStyle/>
          <a:p>
            <a:pPr marL="0" indent="0">
              <a:buNone/>
            </a:pPr>
            <a:r>
              <a:rPr lang="en-US" sz="1100" dirty="0">
                <a:solidFill>
                  <a:srgbClr val="6B7C76"/>
                </a:solidFill>
                <a:latin typeface="Calibri" pitchFamily="34" charset="0"/>
                <a:ea typeface="Calibri" pitchFamily="34" charset="-122"/>
                <a:cs typeface="Calibri" pitchFamily="34" charset="-120"/>
              </a:rPr>
              <a:t>Soddalashtirilgan MVP uslubiyoti; standart qiymat va benchmarklar Yevropa Komissiyasi jadvallari bilan yangilanadi</a:t>
            </a:r>
            <a:endParaRPr lang="en-US" sz="11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C76"/>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2FB38F"/>
                </a:solidFill>
                <a:latin typeface="Calibri" pitchFamily="34" charset="0"/>
                <a:ea typeface="Calibri" pitchFamily="34" charset="-122"/>
                <a:cs typeface="Calibri" pitchFamily="34" charset="-120"/>
              </a:rPr>
              <a:t>SUN’IY INTELLEKT</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EEF3EF"/>
                </a:solidFill>
                <a:latin typeface="Arial" pitchFamily="34" charset="0"/>
                <a:ea typeface="Arial" pitchFamily="34" charset="-122"/>
                <a:cs typeface="Arial" pitchFamily="34" charset="-120"/>
              </a:rPr>
              <a:t>Oltita AI komponenti</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3816" y="1965960"/>
          <a:ext cx="10570464" cy="914400"/>
        </p:xfrm>
        <a:graphic>
          <a:graphicData uri="http://schemas.openxmlformats.org/drawingml/2006/table">
            <a:tbl>
              <a:tblPr/>
              <a:tblGrid>
                <a:gridCol w="329184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2889504">
                  <a:extLst>
                    <a:ext uri="{9D8B030D-6E8A-4147-A177-3AD203B41FA5}">
                      <a16:colId xmlns:a16="http://schemas.microsoft.com/office/drawing/2014/main" val="20002"/>
                    </a:ext>
                  </a:extLst>
                </a:gridCol>
              </a:tblGrid>
              <a:tr h="438912">
                <a:tc>
                  <a:txBody>
                    <a:bodyPr/>
                    <a:lstStyle/>
                    <a:p>
                      <a:pPr marL="0" indent="0">
                        <a:buNone/>
                      </a:pPr>
                      <a:r>
                        <a:rPr lang="en-US" sz="1500" b="1" dirty="0">
                          <a:solidFill>
                            <a:srgbClr val="2FB38F"/>
                          </a:solidFill>
                          <a:latin typeface="Calibri" pitchFamily="34" charset="0"/>
                          <a:ea typeface="Calibri" pitchFamily="34" charset="-122"/>
                          <a:cs typeface="Calibri" pitchFamily="34" charset="-120"/>
                        </a:rPr>
                        <a:t>Komponent</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solidFill>
                      <a:srgbClr val="172B26"/>
                    </a:solidFill>
                  </a:tcPr>
                </a:tc>
                <a:tc>
                  <a:txBody>
                    <a:bodyPr/>
                    <a:lstStyle/>
                    <a:p>
                      <a:pPr marL="0" indent="0">
                        <a:buNone/>
                      </a:pPr>
                      <a:r>
                        <a:rPr lang="en-US" sz="1500" b="1" dirty="0">
                          <a:solidFill>
                            <a:srgbClr val="2FB38F"/>
                          </a:solidFill>
                          <a:latin typeface="Calibri" pitchFamily="34" charset="0"/>
                          <a:ea typeface="Calibri" pitchFamily="34" charset="-122"/>
                          <a:cs typeface="Calibri" pitchFamily="34" charset="-120"/>
                        </a:rPr>
                        <a:t>Vazifasi</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solidFill>
                      <a:srgbClr val="172B26"/>
                    </a:solidFill>
                  </a:tcPr>
                </a:tc>
                <a:tc>
                  <a:txBody>
                    <a:bodyPr/>
                    <a:lstStyle/>
                    <a:p>
                      <a:pPr marL="0" indent="0">
                        <a:buNone/>
                      </a:pPr>
                      <a:r>
                        <a:rPr lang="en-US" sz="1500" b="1" dirty="0">
                          <a:solidFill>
                            <a:srgbClr val="2FB38F"/>
                          </a:solidFill>
                          <a:latin typeface="Calibri" pitchFamily="34" charset="0"/>
                          <a:ea typeface="Calibri" pitchFamily="34" charset="-122"/>
                          <a:cs typeface="Calibri" pitchFamily="34" charset="-120"/>
                        </a:rPr>
                        <a:t>Qabul mezoni</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solidFill>
                      <a:srgbClr val="172B26"/>
                    </a:solidFill>
                  </a:tcPr>
                </a:tc>
                <a:extLst>
                  <a:ext uri="{0D108BD9-81ED-4DB2-BD59-A6C34878D82A}">
                    <a16:rowId xmlns:a16="http://schemas.microsoft.com/office/drawing/2014/main" val="10000"/>
                  </a:ext>
                </a:extLst>
              </a:tr>
              <a:tr h="438912">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Anomaliyalarni aniqlash</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Xato va g‘ayrioddiy qiymatlarni topish</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to‘liqlik ≥ 90%</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Bo‘shliqlarni to‘ldirish</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Uzilgan o‘lchovlarni taklif qilish</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xato (MAPE) ≤ 5%</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Prognozlash</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Emissiya va CBAM xarajati, 1–5 yil</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12 oylik MAPE ≤ 10%</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Hujjatlarni tanish</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Hisob-faktura va bayonnomalardan OCR</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aniqlik ≥ 95%</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Tavsiyalar tizimi</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Dekarbonizatsiya choralari va tejam</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ekspert bahosi ≥ 80%</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AI-yordamchi</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O‘zbek, rus, ingliz tilida savol-javob</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tc>
                  <a:txBody>
                    <a:bodyPr/>
                    <a:lstStyle/>
                    <a:p>
                      <a:pPr marL="0" indent="0">
                        <a:buNone/>
                      </a:pPr>
                      <a:r>
                        <a:rPr lang="en-US" sz="1500" dirty="0">
                          <a:solidFill>
                            <a:srgbClr val="DCE7E2"/>
                          </a:solidFill>
                          <a:latin typeface="Calibri" pitchFamily="34" charset="0"/>
                          <a:ea typeface="Calibri" pitchFamily="34" charset="-122"/>
                          <a:cs typeface="Calibri" pitchFamily="34" charset="-120"/>
                        </a:rPr>
                        <a:t>to‘g‘ri javob ≥ 90%</a:t>
                      </a:r>
                      <a:endParaRPr lang="en-US" sz="1500" dirty="0">
                        <a:latin typeface="Calibri" charset="0"/>
                        <a:ea typeface="Calibri" charset="0"/>
                        <a:cs typeface="Calibri" charset="0"/>
                      </a:endParaRPr>
                    </a:p>
                  </a:txBody>
                  <a:tcPr marL="109728" marR="109728" marT="0" marB="0" anchor="ctr">
                    <a:lnL w="9525" cap="flat" cmpd="sng" algn="ctr">
                      <a:solidFill>
                        <a:srgbClr val="2E4A42"/>
                      </a:solidFill>
                      <a:prstDash val="solid"/>
                      <a:round/>
                      <a:headEnd type="none" w="med" len="med"/>
                      <a:tailEnd type="none" w="med" len="med"/>
                    </a:lnL>
                    <a:lnR w="9525" cap="flat" cmpd="sng" algn="ctr">
                      <a:solidFill>
                        <a:srgbClr val="2E4A42"/>
                      </a:solidFill>
                      <a:prstDash val="solid"/>
                      <a:round/>
                      <a:headEnd type="none" w="med" len="med"/>
                      <a:tailEnd type="none" w="med" len="med"/>
                    </a:lnR>
                    <a:lnT w="9525" cap="flat" cmpd="sng" algn="ctr">
                      <a:solidFill>
                        <a:srgbClr val="2E4A42"/>
                      </a:solidFill>
                      <a:prstDash val="solid"/>
                      <a:round/>
                      <a:headEnd type="none" w="med" len="med"/>
                      <a:tailEnd type="none" w="med" len="med"/>
                    </a:lnT>
                    <a:lnB w="9525" cap="flat" cmpd="sng" algn="ctr">
                      <a:solidFill>
                        <a:srgbClr val="2E4A4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amoyil"/>
          <p:cNvSpPr/>
          <p:nvPr/>
        </p:nvSpPr>
        <p:spPr>
          <a:xfrm>
            <a:off x="813816" y="5257800"/>
            <a:ext cx="10570464" cy="777240"/>
          </a:xfrm>
          <a:prstGeom prst="roundRect">
            <a:avLst>
              <a:gd name="adj" fmla="val 11765"/>
            </a:avLst>
          </a:prstGeom>
          <a:solidFill>
            <a:srgbClr val="172B26"/>
          </a:solidFill>
          <a:ln w="12700">
            <a:solidFill>
              <a:srgbClr val="172B26"/>
            </a:solidFill>
            <a:prstDash val="solid"/>
          </a:ln>
        </p:spPr>
      </p:sp>
      <p:pic>
        <p:nvPicPr>
          <p:cNvPr id="7" name="Image 0" descr="Qulf"/>
          <p:cNvPicPr>
            <a:picLocks noChangeAspect="1"/>
          </p:cNvPicPr>
          <p:nvPr/>
        </p:nvPicPr>
        <p:blipFill>
          <a:blip r:embed="rId3"/>
          <a:stretch>
            <a:fillRect/>
          </a:stretch>
        </p:blipFill>
        <p:spPr>
          <a:xfrm>
            <a:off x="1088136" y="5458968"/>
            <a:ext cx="365760" cy="365760"/>
          </a:xfrm>
          <a:prstGeom prst="rect">
            <a:avLst/>
          </a:prstGeom>
        </p:spPr>
      </p:pic>
      <p:sp>
        <p:nvSpPr>
          <p:cNvPr id="4" name="Text 3"/>
          <p:cNvSpPr txBox="1"/>
          <p:nvPr/>
        </p:nvSpPr>
        <p:spPr>
          <a:xfrm>
            <a:off x="1682496" y="5321808"/>
            <a:ext cx="9427464" cy="640080"/>
          </a:xfrm>
          <a:prstGeom prst="rect">
            <a:avLst/>
          </a:prstGeom>
          <a:noFill/>
          <a:ln/>
        </p:spPr>
        <p:txBody>
          <a:bodyPr wrap="square" lIns="0" tIns="0" rIns="0" bIns="0" rtlCol="0" anchor="ctr"/>
          <a:lstStyle/>
          <a:p>
            <a:pPr marL="0" indent="0">
              <a:buNone/>
            </a:pPr>
            <a:r>
              <a:rPr lang="en-US" sz="1500" dirty="0">
                <a:solidFill>
                  <a:srgbClr val="DCE7E2"/>
                </a:solidFill>
                <a:latin typeface="Calibri" pitchFamily="34" charset="0"/>
                <a:ea typeface="Calibri" pitchFamily="34" charset="-122"/>
                <a:cs typeface="Calibri" pitchFamily="34" charset="-120"/>
              </a:rPr>
              <a:t>Rasmiy hisobotdagi raqamlarni AI emas, tekshiriladigan hisoblash yadrosi chiqaradi; AI natijasi doim “tavsiya” belgisi bilan ko‘rsatiladi</a:t>
            </a:r>
            <a:endParaRPr lang="en-US" sz="1500" dirty="0"/>
          </a:p>
        </p:txBody>
      </p:sp>
      <p:sp>
        <p:nvSpPr>
          <p:cNvPr id="9" name="Izoh"/>
          <p:cNvSpPr txBox="1"/>
          <p:nvPr/>
        </p:nvSpPr>
        <p:spPr>
          <a:xfrm>
            <a:off x="813816" y="6355080"/>
            <a:ext cx="9875520" cy="274320"/>
          </a:xfrm>
          <a:prstGeom prst="rect">
            <a:avLst/>
          </a:prstGeom>
          <a:noFill/>
          <a:ln/>
        </p:spPr>
        <p:txBody>
          <a:bodyPr wrap="square" lIns="0" tIns="0" rIns="0" bIns="0" rtlCol="0" anchor="ctr"/>
          <a:lstStyle/>
          <a:p>
            <a:pPr marL="0" indent="0">
              <a:buNone/>
            </a:pPr>
            <a:r>
              <a:rPr lang="en-US" sz="1100" dirty="0">
                <a:solidFill>
                  <a:srgbClr val="7F978F"/>
                </a:solidFill>
                <a:latin typeface="Calibri" pitchFamily="34" charset="0"/>
                <a:ea typeface="Calibri" pitchFamily="34" charset="-122"/>
                <a:cs typeface="Calibri" pitchFamily="34" charset="-120"/>
              </a:rPr>
              <a:t>Texnik topshiriq, 8-bo‘lim</a:t>
            </a:r>
            <a:endParaRPr lang="en-US" sz="11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F978F"/>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0B7A5F"/>
                </a:solidFill>
                <a:latin typeface="Calibri" pitchFamily="34" charset="0"/>
                <a:ea typeface="Calibri" pitchFamily="34" charset="-122"/>
                <a:cs typeface="Calibri" pitchFamily="34" charset="-120"/>
              </a:rPr>
              <a:t>MVP</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14241F"/>
                </a:solidFill>
                <a:latin typeface="Arial" pitchFamily="34" charset="0"/>
                <a:ea typeface="Arial" pitchFamily="34" charset="-122"/>
                <a:cs typeface="Arial" pitchFamily="34" charset="-120"/>
              </a:rPr>
              <a:t>Ishlaydigan mahsulot tayyor</a:t>
            </a:r>
            <a:endParaRPr lang="en-US" sz="3200" dirty="0"/>
          </a:p>
        </p:txBody>
      </p:sp>
      <p:sp>
        <p:nvSpPr>
          <p:cNvPr id="5" name="Text 2"/>
          <p:cNvSpPr txBox="1"/>
          <p:nvPr/>
        </p:nvSpPr>
        <p:spPr>
          <a:xfrm>
            <a:off x="813816" y="2057400"/>
            <a:ext cx="3931920" cy="292608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3E4F49"/>
                </a:solidFill>
                <a:latin typeface="Calibri" pitchFamily="34" charset="0"/>
                <a:ea typeface="Calibri" pitchFamily="34" charset="-122"/>
                <a:cs typeface="Calibri" pitchFamily="34" charset="-120"/>
              </a:rPr>
              <a:t>Monitoring paneli</a:t>
            </a:r>
            <a:endParaRPr lang="en-US" sz="1600" dirty="0"/>
          </a:p>
          <a:p>
            <a:pPr marL="228600" indent="-228600">
              <a:spcAft>
                <a:spcPts val="600"/>
              </a:spcAft>
              <a:buSzPct val="100000"/>
              <a:buChar char="•"/>
            </a:pPr>
            <a:r>
              <a:rPr lang="en-US" sz="1600" dirty="0">
                <a:solidFill>
                  <a:srgbClr val="3E4F49"/>
                </a:solidFill>
                <a:latin typeface="Calibri" pitchFamily="34" charset="0"/>
                <a:ea typeface="Calibri" pitchFamily="34" charset="-122"/>
                <a:cs typeface="Calibri" pitchFamily="34" charset="-120"/>
              </a:rPr>
              <a:t>Inshootlar reyestri</a:t>
            </a:r>
            <a:endParaRPr lang="en-US" sz="1600" dirty="0"/>
          </a:p>
          <a:p>
            <a:pPr marL="228600" indent="-228600">
              <a:spcAft>
                <a:spcPts val="600"/>
              </a:spcAft>
              <a:buSzPct val="100000"/>
              <a:buChar char="•"/>
            </a:pPr>
            <a:r>
              <a:rPr lang="en-US" sz="1600" dirty="0">
                <a:solidFill>
                  <a:srgbClr val="3E4F49"/>
                </a:solidFill>
                <a:latin typeface="Calibri" pitchFamily="34" charset="0"/>
                <a:ea typeface="Calibri" pitchFamily="34" charset="-122"/>
                <a:cs typeface="Calibri" pitchFamily="34" charset="-120"/>
              </a:rPr>
              <a:t>Ma’lumot kiritish va tekshiruv</a:t>
            </a:r>
            <a:endParaRPr lang="en-US" sz="1600" dirty="0"/>
          </a:p>
          <a:p>
            <a:pPr marL="228600" indent="-228600">
              <a:spcAft>
                <a:spcPts val="600"/>
              </a:spcAft>
              <a:buSzPct val="100000"/>
              <a:buChar char="•"/>
            </a:pPr>
            <a:r>
              <a:rPr lang="en-US" sz="1600" dirty="0">
                <a:solidFill>
                  <a:srgbClr val="3E4F49"/>
                </a:solidFill>
                <a:latin typeface="Calibri" pitchFamily="34" charset="0"/>
                <a:ea typeface="Calibri" pitchFamily="34" charset="-122"/>
                <a:cs typeface="Calibri" pitchFamily="34" charset="-120"/>
              </a:rPr>
              <a:t>Hisob-kitob va CBAM moliyaviy yuki</a:t>
            </a:r>
            <a:endParaRPr lang="en-US" sz="1600" dirty="0"/>
          </a:p>
          <a:p>
            <a:pPr marL="228600" indent="-228600">
              <a:spcAft>
                <a:spcPts val="600"/>
              </a:spcAft>
              <a:buSzPct val="100000"/>
              <a:buChar char="•"/>
            </a:pPr>
            <a:r>
              <a:rPr lang="en-US" sz="1600" dirty="0">
                <a:solidFill>
                  <a:srgbClr val="3E4F49"/>
                </a:solidFill>
                <a:latin typeface="Calibri" pitchFamily="34" charset="0"/>
                <a:ea typeface="Calibri" pitchFamily="34" charset="-122"/>
                <a:cs typeface="Calibri" pitchFamily="34" charset="-120"/>
              </a:rPr>
              <a:t>AI tahlil va AI-yordamchi</a:t>
            </a:r>
            <a:endParaRPr lang="en-US" sz="1600" dirty="0"/>
          </a:p>
          <a:p>
            <a:pPr marL="228600" indent="-228600">
              <a:spcAft>
                <a:spcPts val="600"/>
              </a:spcAft>
              <a:buSzPct val="100000"/>
              <a:buChar char="•"/>
            </a:pPr>
            <a:r>
              <a:rPr lang="en-US" sz="1600" dirty="0">
                <a:solidFill>
                  <a:srgbClr val="3E4F49"/>
                </a:solidFill>
                <a:latin typeface="Calibri" pitchFamily="34" charset="0"/>
                <a:ea typeface="Calibri" pitchFamily="34" charset="-122"/>
                <a:cs typeface="Calibri" pitchFamily="34" charset="-120"/>
              </a:rPr>
              <a:t>CBAM hisoboti, CSV eksport</a:t>
            </a:r>
            <a:endParaRPr lang="en-US" sz="1600" dirty="0"/>
          </a:p>
          <a:p>
            <a:pPr marL="228600" indent="-228600">
              <a:spcAft>
                <a:spcPts val="600"/>
              </a:spcAft>
              <a:buSzPct val="100000"/>
              <a:buChar char="•"/>
            </a:pPr>
            <a:r>
              <a:rPr lang="en-US" sz="1600" dirty="0">
                <a:solidFill>
                  <a:srgbClr val="3E4F49"/>
                </a:solidFill>
                <a:latin typeface="Calibri" pitchFamily="34" charset="0"/>
                <a:ea typeface="Calibri" pitchFamily="34" charset="-122"/>
                <a:cs typeface="Calibri" pitchFamily="34" charset="-120"/>
              </a:rPr>
              <a:t>Uslubiyot parametrlari</a:t>
            </a:r>
            <a:endParaRPr lang="en-US" sz="1600" dirty="0"/>
          </a:p>
        </p:txBody>
      </p:sp>
      <p:sp>
        <p:nvSpPr>
          <p:cNvPr id="6" name="Belgi 1"/>
          <p:cNvSpPr/>
          <p:nvPr/>
        </p:nvSpPr>
        <p:spPr>
          <a:xfrm>
            <a:off x="813816" y="5166360"/>
            <a:ext cx="2043684" cy="384048"/>
          </a:xfrm>
          <a:prstGeom prst="roundRect">
            <a:avLst>
              <a:gd name="adj" fmla="val 50000"/>
            </a:avLst>
          </a:prstGeom>
          <a:solidFill>
            <a:srgbClr val="10201C"/>
          </a:solidFill>
          <a:ln w="12700">
            <a:solidFill>
              <a:srgbClr val="10201C"/>
            </a:solidFill>
            <a:prstDash val="solid"/>
          </a:ln>
        </p:spPr>
      </p:sp>
      <p:sp>
        <p:nvSpPr>
          <p:cNvPr id="7" name="Text 4"/>
          <p:cNvSpPr txBox="1"/>
          <p:nvPr/>
        </p:nvSpPr>
        <p:spPr>
          <a:xfrm>
            <a:off x="813816" y="5166360"/>
            <a:ext cx="2043684" cy="384048"/>
          </a:xfrm>
          <a:prstGeom prst="rect">
            <a:avLst/>
          </a:prstGeom>
          <a:noFill/>
          <a:ln/>
        </p:spPr>
        <p:txBody>
          <a:bodyPr wrap="square" lIns="0" tIns="0" rIns="0" bIns="0" rtlCol="0" anchor="ctr"/>
          <a:lstStyle/>
          <a:p>
            <a:pPr marL="0" indent="0" algn="ctr">
              <a:buNone/>
            </a:pPr>
            <a:r>
              <a:rPr lang="en-US" sz="1300" b="1" dirty="0">
                <a:solidFill>
                  <a:srgbClr val="EEF3EF"/>
                </a:solidFill>
                <a:latin typeface="Calibri" pitchFamily="34" charset="0"/>
                <a:ea typeface="Calibri" pitchFamily="34" charset="-122"/>
                <a:cs typeface="Calibri" pitchFamily="34" charset="-120"/>
              </a:rPr>
              <a:t>14 avtomatik test</a:t>
            </a:r>
            <a:endParaRPr lang="en-US" sz="1300" dirty="0"/>
          </a:p>
        </p:txBody>
      </p:sp>
      <p:sp>
        <p:nvSpPr>
          <p:cNvPr id="8" name="Belgi 2"/>
          <p:cNvSpPr/>
          <p:nvPr/>
        </p:nvSpPr>
        <p:spPr>
          <a:xfrm>
            <a:off x="2994660" y="5166360"/>
            <a:ext cx="1467612" cy="384048"/>
          </a:xfrm>
          <a:prstGeom prst="roundRect">
            <a:avLst>
              <a:gd name="adj" fmla="val 50000"/>
            </a:avLst>
          </a:prstGeom>
          <a:solidFill>
            <a:srgbClr val="E1ECE7"/>
          </a:solidFill>
          <a:ln w="12700">
            <a:solidFill>
              <a:srgbClr val="E1ECE7"/>
            </a:solidFill>
            <a:prstDash val="solid"/>
          </a:ln>
        </p:spPr>
      </p:sp>
      <p:sp>
        <p:nvSpPr>
          <p:cNvPr id="9" name="Text 6"/>
          <p:cNvSpPr txBox="1"/>
          <p:nvPr/>
        </p:nvSpPr>
        <p:spPr>
          <a:xfrm>
            <a:off x="2994660" y="5166360"/>
            <a:ext cx="1467612" cy="384048"/>
          </a:xfrm>
          <a:prstGeom prst="rect">
            <a:avLst/>
          </a:prstGeom>
          <a:noFill/>
          <a:ln/>
        </p:spPr>
        <p:txBody>
          <a:bodyPr wrap="square" lIns="0" tIns="0" rIns="0" bIns="0" rtlCol="0" anchor="ctr"/>
          <a:lstStyle/>
          <a:p>
            <a:pPr marL="0" indent="0" algn="ctr">
              <a:buNone/>
            </a:pPr>
            <a:r>
              <a:rPr lang="en-US" sz="1300" b="1" dirty="0">
                <a:solidFill>
                  <a:srgbClr val="0B5E4A"/>
                </a:solidFill>
                <a:latin typeface="Calibri" pitchFamily="34" charset="0"/>
                <a:ea typeface="Calibri" pitchFamily="34" charset="-122"/>
                <a:cs typeface="Calibri" pitchFamily="34" charset="-120"/>
              </a:rPr>
              <a:t>Node.js 18+</a:t>
            </a:r>
            <a:endParaRPr lang="en-US" sz="1300" dirty="0"/>
          </a:p>
        </p:txBody>
      </p:sp>
      <p:sp>
        <p:nvSpPr>
          <p:cNvPr id="10" name="Belgi 3"/>
          <p:cNvSpPr/>
          <p:nvPr/>
        </p:nvSpPr>
        <p:spPr>
          <a:xfrm>
            <a:off x="813816" y="5669280"/>
            <a:ext cx="2235708" cy="384048"/>
          </a:xfrm>
          <a:prstGeom prst="roundRect">
            <a:avLst>
              <a:gd name="adj" fmla="val 50000"/>
            </a:avLst>
          </a:prstGeom>
          <a:solidFill>
            <a:srgbClr val="E1ECE7"/>
          </a:solidFill>
          <a:ln w="12700">
            <a:solidFill>
              <a:srgbClr val="E1ECE7"/>
            </a:solidFill>
            <a:prstDash val="solid"/>
          </a:ln>
        </p:spPr>
      </p:sp>
      <p:sp>
        <p:nvSpPr>
          <p:cNvPr id="11" name="Text 8"/>
          <p:cNvSpPr txBox="1"/>
          <p:nvPr/>
        </p:nvSpPr>
        <p:spPr>
          <a:xfrm>
            <a:off x="813816" y="5669280"/>
            <a:ext cx="2235708" cy="384048"/>
          </a:xfrm>
          <a:prstGeom prst="rect">
            <a:avLst/>
          </a:prstGeom>
          <a:noFill/>
          <a:ln/>
        </p:spPr>
        <p:txBody>
          <a:bodyPr wrap="square" lIns="0" tIns="0" rIns="0" bIns="0" rtlCol="0" anchor="ctr"/>
          <a:lstStyle/>
          <a:p>
            <a:pPr marL="0" indent="0" algn="ctr">
              <a:buNone/>
            </a:pPr>
            <a:r>
              <a:rPr lang="en-US" sz="1300" b="1" dirty="0">
                <a:solidFill>
                  <a:srgbClr val="0B5E4A"/>
                </a:solidFill>
                <a:latin typeface="Calibri" pitchFamily="34" charset="0"/>
                <a:ea typeface="Calibri" pitchFamily="34" charset="-122"/>
                <a:cs typeface="Calibri" pitchFamily="34" charset="-120"/>
              </a:rPr>
              <a:t>Tashqi kutubxonasiz</a:t>
            </a:r>
            <a:endParaRPr lang="en-US" sz="1300" dirty="0"/>
          </a:p>
        </p:txBody>
      </p:sp>
      <p:pic>
        <p:nvPicPr>
          <p:cNvPr id="12" name="Image 0" descr="UzCarbon monitoring paneli: emissiyalar, CBAM xarajati, SEE grafigi va anomaliyalar ro‘yxati"/>
          <p:cNvPicPr>
            <a:picLocks noChangeAspect="1"/>
          </p:cNvPicPr>
          <p:nvPr/>
        </p:nvPicPr>
        <p:blipFill>
          <a:blip r:embed="rId3"/>
          <a:stretch>
            <a:fillRect/>
          </a:stretch>
        </p:blipFill>
        <p:spPr>
          <a:xfrm>
            <a:off x="5029200" y="2011680"/>
            <a:ext cx="6355080" cy="3968496"/>
          </a:xfrm>
          <a:prstGeom prst="rect">
            <a:avLst/>
          </a:prstGeom>
          <a:effectLst>
            <a:outerShdw blurRad="152400" dist="50800" dir="5400000" algn="bl" rotWithShape="0">
              <a:srgbClr val="10201C">
                <a:alpha val="18000"/>
              </a:srgbClr>
            </a:outerShdw>
          </a:effectLst>
        </p:spPr>
      </p:pic>
      <p:sp>
        <p:nvSpPr>
          <p:cNvPr id="13" name="Izoh"/>
          <p:cNvSpPr txBox="1"/>
          <p:nvPr/>
        </p:nvSpPr>
        <p:spPr>
          <a:xfrm>
            <a:off x="813816" y="6355080"/>
            <a:ext cx="9875520" cy="274320"/>
          </a:xfrm>
          <a:prstGeom prst="rect">
            <a:avLst/>
          </a:prstGeom>
          <a:noFill/>
          <a:ln/>
        </p:spPr>
        <p:txBody>
          <a:bodyPr wrap="square" lIns="0" tIns="0" rIns="0" bIns="0" rtlCol="0" anchor="ctr"/>
          <a:lstStyle/>
          <a:p>
            <a:pPr marL="0" indent="0">
              <a:buNone/>
            </a:pPr>
            <a:r>
              <a:rPr lang="en-US" sz="1100" dirty="0">
                <a:solidFill>
                  <a:srgbClr val="6B7C76"/>
                </a:solidFill>
                <a:latin typeface="Calibri" pitchFamily="34" charset="0"/>
                <a:ea typeface="Calibri" pitchFamily="34" charset="-122"/>
                <a:cs typeface="Calibri" pitchFamily="34" charset="-120"/>
              </a:rPr>
              <a:t>Ekrandagi ma’lumotlar — namuna (shartli korxonalar)</a:t>
            </a:r>
            <a:endParaRPr lang="en-US" sz="11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C76"/>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2FB38F"/>
                </a:solidFill>
                <a:latin typeface="Calibri" pitchFamily="34" charset="0"/>
                <a:ea typeface="Calibri" pitchFamily="34" charset="-122"/>
                <a:cs typeface="Calibri" pitchFamily="34" charset="-120"/>
              </a:rPr>
              <a:t>NAMUNA NATIJALAR · 2026, I–II CHORAK</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EEF3EF"/>
                </a:solidFill>
                <a:latin typeface="Arial" pitchFamily="34" charset="0"/>
                <a:ea typeface="Arial" pitchFamily="34" charset="-122"/>
                <a:cs typeface="Arial" pitchFamily="34" charset="-120"/>
              </a:rPr>
              <a:t>Uch korxona, olti oy</a:t>
            </a:r>
            <a:endParaRPr lang="en-US" sz="3200" dirty="0"/>
          </a:p>
        </p:txBody>
      </p:sp>
      <p:sp>
        <p:nvSpPr>
          <p:cNvPr id="5" name="Chiziq 1"/>
          <p:cNvSpPr/>
          <p:nvPr/>
        </p:nvSpPr>
        <p:spPr>
          <a:xfrm>
            <a:off x="813816" y="2057400"/>
            <a:ext cx="5010912" cy="0"/>
          </a:xfrm>
          <a:prstGeom prst="line">
            <a:avLst/>
          </a:prstGeom>
          <a:noFill/>
          <a:ln w="19050">
            <a:solidFill>
              <a:srgbClr val="2E4A42"/>
            </a:solidFill>
            <a:prstDash val="solid"/>
          </a:ln>
        </p:spPr>
      </p:sp>
      <p:sp>
        <p:nvSpPr>
          <p:cNvPr id="6" name="Text 3"/>
          <p:cNvSpPr txBox="1"/>
          <p:nvPr/>
        </p:nvSpPr>
        <p:spPr>
          <a:xfrm>
            <a:off x="813816" y="2240280"/>
            <a:ext cx="5010912" cy="822960"/>
          </a:xfrm>
          <a:prstGeom prst="rect">
            <a:avLst/>
          </a:prstGeom>
          <a:noFill/>
          <a:ln/>
        </p:spPr>
        <p:txBody>
          <a:bodyPr wrap="square" lIns="0" tIns="0" rIns="0" bIns="0" rtlCol="0" anchor="t"/>
          <a:lstStyle/>
          <a:p>
            <a:pPr marL="0" indent="0">
              <a:buNone/>
            </a:pPr>
            <a:r>
              <a:rPr lang="en-US" sz="4800" b="1" dirty="0">
                <a:solidFill>
                  <a:srgbClr val="EEF3EF"/>
                </a:solidFill>
                <a:latin typeface="Arial" pitchFamily="34" charset="0"/>
                <a:ea typeface="Arial" pitchFamily="34" charset="-122"/>
                <a:cs typeface="Arial" pitchFamily="34" charset="-120"/>
              </a:rPr>
              <a:t>1 406</a:t>
            </a:r>
            <a:endParaRPr lang="en-US" sz="4800" dirty="0"/>
          </a:p>
        </p:txBody>
      </p:sp>
      <p:sp>
        <p:nvSpPr>
          <p:cNvPr id="7" name="Text 4"/>
          <p:cNvSpPr txBox="1"/>
          <p:nvPr/>
        </p:nvSpPr>
        <p:spPr>
          <a:xfrm>
            <a:off x="813816" y="3108960"/>
            <a:ext cx="5010912" cy="548640"/>
          </a:xfrm>
          <a:prstGeom prst="rect">
            <a:avLst/>
          </a:prstGeom>
          <a:noFill/>
          <a:ln/>
        </p:spPr>
        <p:txBody>
          <a:bodyPr wrap="square" lIns="0" tIns="0" rIns="0" bIns="0" rtlCol="0" anchor="t"/>
          <a:lstStyle/>
          <a:p>
            <a:pPr marL="0" indent="0">
              <a:buNone/>
            </a:pPr>
            <a:r>
              <a:rPr lang="en-US" sz="1600" dirty="0">
                <a:solidFill>
                  <a:srgbClr val="B9CCC5"/>
                </a:solidFill>
                <a:latin typeface="Calibri" pitchFamily="34" charset="0"/>
                <a:ea typeface="Calibri" pitchFamily="34" charset="-122"/>
                <a:cs typeface="Calibri" pitchFamily="34" charset="-120"/>
              </a:rPr>
              <a:t>ming t CO₂e jami emissiyalar</a:t>
            </a:r>
            <a:endParaRPr lang="en-US" sz="1600" dirty="0"/>
          </a:p>
        </p:txBody>
      </p:sp>
      <p:sp>
        <p:nvSpPr>
          <p:cNvPr id="8" name="Chiziq 2"/>
          <p:cNvSpPr/>
          <p:nvPr/>
        </p:nvSpPr>
        <p:spPr>
          <a:xfrm>
            <a:off x="6373368" y="2057400"/>
            <a:ext cx="5010912" cy="0"/>
          </a:xfrm>
          <a:prstGeom prst="line">
            <a:avLst/>
          </a:prstGeom>
          <a:noFill/>
          <a:ln w="19050">
            <a:solidFill>
              <a:srgbClr val="2E4A42"/>
            </a:solidFill>
            <a:prstDash val="solid"/>
          </a:ln>
        </p:spPr>
      </p:sp>
      <p:sp>
        <p:nvSpPr>
          <p:cNvPr id="9" name="Text 6"/>
          <p:cNvSpPr txBox="1"/>
          <p:nvPr/>
        </p:nvSpPr>
        <p:spPr>
          <a:xfrm>
            <a:off x="6373368" y="2240280"/>
            <a:ext cx="5010912" cy="822960"/>
          </a:xfrm>
          <a:prstGeom prst="rect">
            <a:avLst/>
          </a:prstGeom>
          <a:noFill/>
          <a:ln/>
        </p:spPr>
        <p:txBody>
          <a:bodyPr wrap="square" lIns="0" tIns="0" rIns="0" bIns="0" rtlCol="0" anchor="t"/>
          <a:lstStyle/>
          <a:p>
            <a:pPr marL="0" indent="0">
              <a:buNone/>
            </a:pPr>
            <a:r>
              <a:rPr lang="en-US" sz="4800" b="1" dirty="0">
                <a:solidFill>
                  <a:srgbClr val="E3A64A"/>
                </a:solidFill>
                <a:latin typeface="Arial" pitchFamily="34" charset="0"/>
                <a:ea typeface="Arial" pitchFamily="34" charset="-122"/>
                <a:cs typeface="Arial" pitchFamily="34" charset="-120"/>
              </a:rPr>
              <a:t>1,32 mln €</a:t>
            </a:r>
            <a:endParaRPr lang="en-US" sz="4800" dirty="0"/>
          </a:p>
        </p:txBody>
      </p:sp>
      <p:sp>
        <p:nvSpPr>
          <p:cNvPr id="10" name="Text 7"/>
          <p:cNvSpPr txBox="1"/>
          <p:nvPr/>
        </p:nvSpPr>
        <p:spPr>
          <a:xfrm>
            <a:off x="6373368" y="3108960"/>
            <a:ext cx="5010912" cy="548640"/>
          </a:xfrm>
          <a:prstGeom prst="rect">
            <a:avLst/>
          </a:prstGeom>
          <a:noFill/>
          <a:ln/>
        </p:spPr>
        <p:txBody>
          <a:bodyPr wrap="square" lIns="0" tIns="0" rIns="0" bIns="0" rtlCol="0" anchor="t"/>
          <a:lstStyle/>
          <a:p>
            <a:pPr marL="0" indent="0">
              <a:buNone/>
            </a:pPr>
            <a:r>
              <a:rPr lang="en-US" sz="1600" dirty="0">
                <a:solidFill>
                  <a:srgbClr val="B9CCC5"/>
                </a:solidFill>
                <a:latin typeface="Calibri" pitchFamily="34" charset="0"/>
                <a:ea typeface="Calibri" pitchFamily="34" charset="-122"/>
                <a:cs typeface="Calibri" pitchFamily="34" charset="-120"/>
              </a:rPr>
              <a:t>CBAM sof xarajati (Yevropa Ittifoqiga 83 ming t eksport)</a:t>
            </a:r>
            <a:endParaRPr lang="en-US" sz="1600" dirty="0"/>
          </a:p>
        </p:txBody>
      </p:sp>
      <p:sp>
        <p:nvSpPr>
          <p:cNvPr id="11" name="Chiziq 3"/>
          <p:cNvSpPr/>
          <p:nvPr/>
        </p:nvSpPr>
        <p:spPr>
          <a:xfrm>
            <a:off x="813816" y="3977640"/>
            <a:ext cx="5010912" cy="0"/>
          </a:xfrm>
          <a:prstGeom prst="line">
            <a:avLst/>
          </a:prstGeom>
          <a:noFill/>
          <a:ln w="19050">
            <a:solidFill>
              <a:srgbClr val="2FB38F"/>
            </a:solidFill>
            <a:prstDash val="solid"/>
          </a:ln>
        </p:spPr>
      </p:sp>
      <p:sp>
        <p:nvSpPr>
          <p:cNvPr id="12" name="Text 9"/>
          <p:cNvSpPr txBox="1"/>
          <p:nvPr/>
        </p:nvSpPr>
        <p:spPr>
          <a:xfrm>
            <a:off x="813816" y="4160520"/>
            <a:ext cx="5010912" cy="822960"/>
          </a:xfrm>
          <a:prstGeom prst="rect">
            <a:avLst/>
          </a:prstGeom>
          <a:noFill/>
          <a:ln/>
        </p:spPr>
        <p:txBody>
          <a:bodyPr wrap="square" lIns="0" tIns="0" rIns="0" bIns="0" rtlCol="0" anchor="t"/>
          <a:lstStyle/>
          <a:p>
            <a:pPr marL="0" indent="0">
              <a:buNone/>
            </a:pPr>
            <a:r>
              <a:rPr lang="en-US" sz="4800" b="1" dirty="0">
                <a:solidFill>
                  <a:srgbClr val="2FB38F"/>
                </a:solidFill>
                <a:latin typeface="Arial" pitchFamily="34" charset="0"/>
                <a:ea typeface="Arial" pitchFamily="34" charset="-122"/>
                <a:cs typeface="Arial" pitchFamily="34" charset="-120"/>
              </a:rPr>
              <a:t>2,93 mln €</a:t>
            </a:r>
            <a:endParaRPr lang="en-US" sz="4800" dirty="0"/>
          </a:p>
        </p:txBody>
      </p:sp>
      <p:sp>
        <p:nvSpPr>
          <p:cNvPr id="13" name="Text 10"/>
          <p:cNvSpPr txBox="1"/>
          <p:nvPr/>
        </p:nvSpPr>
        <p:spPr>
          <a:xfrm>
            <a:off x="813816" y="5029200"/>
            <a:ext cx="5010912" cy="548640"/>
          </a:xfrm>
          <a:prstGeom prst="rect">
            <a:avLst/>
          </a:prstGeom>
          <a:noFill/>
          <a:ln/>
        </p:spPr>
        <p:txBody>
          <a:bodyPr wrap="square" lIns="0" tIns="0" rIns="0" bIns="0" rtlCol="0" anchor="t"/>
          <a:lstStyle/>
          <a:p>
            <a:pPr marL="0" indent="0">
              <a:buNone/>
            </a:pPr>
            <a:r>
              <a:rPr lang="en-US" sz="1600" dirty="0">
                <a:solidFill>
                  <a:srgbClr val="B9CCC5"/>
                </a:solidFill>
                <a:latin typeface="Calibri" pitchFamily="34" charset="0"/>
                <a:ea typeface="Calibri" pitchFamily="34" charset="-122"/>
                <a:cs typeface="Calibri" pitchFamily="34" charset="-120"/>
              </a:rPr>
              <a:t>haqiqiy ma’lumot standart qiymatga nisbatan tejagan summa</a:t>
            </a:r>
            <a:endParaRPr lang="en-US" sz="1600" dirty="0"/>
          </a:p>
        </p:txBody>
      </p:sp>
      <p:sp>
        <p:nvSpPr>
          <p:cNvPr id="14" name="Chiziq 4"/>
          <p:cNvSpPr/>
          <p:nvPr/>
        </p:nvSpPr>
        <p:spPr>
          <a:xfrm>
            <a:off x="6373368" y="3977640"/>
            <a:ext cx="5010912" cy="0"/>
          </a:xfrm>
          <a:prstGeom prst="line">
            <a:avLst/>
          </a:prstGeom>
          <a:noFill/>
          <a:ln w="19050">
            <a:solidFill>
              <a:srgbClr val="2E4A42"/>
            </a:solidFill>
            <a:prstDash val="solid"/>
          </a:ln>
        </p:spPr>
      </p:sp>
      <p:sp>
        <p:nvSpPr>
          <p:cNvPr id="15" name="Text 12"/>
          <p:cNvSpPr txBox="1"/>
          <p:nvPr/>
        </p:nvSpPr>
        <p:spPr>
          <a:xfrm>
            <a:off x="6373368" y="4160520"/>
            <a:ext cx="5010912" cy="822960"/>
          </a:xfrm>
          <a:prstGeom prst="rect">
            <a:avLst/>
          </a:prstGeom>
          <a:noFill/>
          <a:ln/>
        </p:spPr>
        <p:txBody>
          <a:bodyPr wrap="square" lIns="0" tIns="0" rIns="0" bIns="0" rtlCol="0" anchor="t"/>
          <a:lstStyle/>
          <a:p>
            <a:pPr marL="0" indent="0">
              <a:buNone/>
            </a:pPr>
            <a:r>
              <a:rPr lang="en-US" sz="4800" b="1" dirty="0">
                <a:solidFill>
                  <a:srgbClr val="EEF3EF"/>
                </a:solidFill>
                <a:latin typeface="Arial" pitchFamily="34" charset="0"/>
                <a:ea typeface="Arial" pitchFamily="34" charset="-122"/>
                <a:cs typeface="Arial" pitchFamily="34" charset="-120"/>
              </a:rPr>
              <a:t>49,9 mlrd</a:t>
            </a:r>
            <a:endParaRPr lang="en-US" sz="4800" dirty="0"/>
          </a:p>
        </p:txBody>
      </p:sp>
      <p:sp>
        <p:nvSpPr>
          <p:cNvPr id="16" name="Text 13"/>
          <p:cNvSpPr txBox="1"/>
          <p:nvPr/>
        </p:nvSpPr>
        <p:spPr>
          <a:xfrm>
            <a:off x="6373368" y="5029200"/>
            <a:ext cx="5010912" cy="548640"/>
          </a:xfrm>
          <a:prstGeom prst="rect">
            <a:avLst/>
          </a:prstGeom>
          <a:noFill/>
          <a:ln/>
        </p:spPr>
        <p:txBody>
          <a:bodyPr wrap="square" lIns="0" tIns="0" rIns="0" bIns="0" rtlCol="0" anchor="t"/>
          <a:lstStyle/>
          <a:p>
            <a:pPr marL="0" indent="0">
              <a:buNone/>
            </a:pPr>
            <a:r>
              <a:rPr lang="en-US" sz="1600" dirty="0">
                <a:solidFill>
                  <a:srgbClr val="B9CCC5"/>
                </a:solidFill>
                <a:latin typeface="Calibri" pitchFamily="34" charset="0"/>
                <a:ea typeface="Calibri" pitchFamily="34" charset="-122"/>
                <a:cs typeface="Calibri" pitchFamily="34" charset="-120"/>
              </a:rPr>
              <a:t>so‘m milliy uglerod to‘lovi O‘zbekiston byudjetiga</a:t>
            </a:r>
            <a:endParaRPr lang="en-US" sz="1600" dirty="0"/>
          </a:p>
        </p:txBody>
      </p:sp>
      <p:sp>
        <p:nvSpPr>
          <p:cNvPr id="17" name="Izoh"/>
          <p:cNvSpPr txBox="1"/>
          <p:nvPr/>
        </p:nvSpPr>
        <p:spPr>
          <a:xfrm>
            <a:off x="813816" y="6355080"/>
            <a:ext cx="9875520" cy="274320"/>
          </a:xfrm>
          <a:prstGeom prst="rect">
            <a:avLst/>
          </a:prstGeom>
          <a:noFill/>
          <a:ln/>
        </p:spPr>
        <p:txBody>
          <a:bodyPr wrap="square" lIns="0" tIns="0" rIns="0" bIns="0" rtlCol="0" anchor="ctr"/>
          <a:lstStyle/>
          <a:p>
            <a:pPr marL="0" indent="0">
              <a:buNone/>
            </a:pPr>
            <a:r>
              <a:rPr lang="en-US" sz="1100" dirty="0">
                <a:solidFill>
                  <a:srgbClr val="7F978F"/>
                </a:solidFill>
                <a:latin typeface="Calibri" pitchFamily="34" charset="0"/>
                <a:ea typeface="Calibri" pitchFamily="34" charset="-122"/>
                <a:cs typeface="Calibri" pitchFamily="34" charset="-120"/>
              </a:rPr>
              <a:t>Shartli korxonalar ma’lumotlari; ETS 75 €/t, 1 € = 14 500 so‘m, milliy stavka 41 200 so‘m/t CO₂e</a:t>
            </a:r>
            <a:endParaRPr lang="en-US" sz="11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F978F"/>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0B7A5F"/>
                </a:solidFill>
                <a:latin typeface="Calibri" pitchFamily="34" charset="0"/>
                <a:ea typeface="Calibri" pitchFamily="34" charset="-122"/>
                <a:cs typeface="Calibri" pitchFamily="34" charset="-120"/>
              </a:rPr>
              <a:t>SSENARIY</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14241F"/>
                </a:solidFill>
                <a:latin typeface="Arial" pitchFamily="34" charset="0"/>
                <a:ea typeface="Arial" pitchFamily="34" charset="-122"/>
                <a:cs typeface="Arial" pitchFamily="34" charset="-120"/>
              </a:rPr>
              <a:t>Milliy narx oshsa, pul O‘zbekistonda qoladi</a:t>
            </a:r>
            <a:endParaRPr lang="en-US" sz="3200" dirty="0"/>
          </a:p>
        </p:txBody>
      </p:sp>
      <p:graphicFrame>
        <p:nvGraphicFramePr>
          <p:cNvPr id="5" name="Yevropa Ittifoqiga to‘lov grafigi"/>
          <p:cNvGraphicFramePr/>
          <p:nvPr/>
        </p:nvGraphicFramePr>
        <p:xfrm>
          <a:off x="813816" y="1920240"/>
          <a:ext cx="69494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8129016" y="2011680"/>
            <a:ext cx="3200400" cy="320040"/>
          </a:xfrm>
          <a:prstGeom prst="rect">
            <a:avLst/>
          </a:prstGeom>
          <a:noFill/>
          <a:ln/>
        </p:spPr>
        <p:txBody>
          <a:bodyPr wrap="square" lIns="0" tIns="0" rIns="0" bIns="0" rtlCol="0" anchor="t"/>
          <a:lstStyle/>
          <a:p>
            <a:pPr marL="0" indent="0">
              <a:buNone/>
            </a:pPr>
            <a:r>
              <a:rPr lang="en-US" sz="1400" b="1" dirty="0">
                <a:solidFill>
                  <a:srgbClr val="0B7A5F"/>
                </a:solidFill>
                <a:latin typeface="Calibri" pitchFamily="34" charset="0"/>
                <a:ea typeface="Calibri" pitchFamily="34" charset="-122"/>
                <a:cs typeface="Calibri" pitchFamily="34" charset="-120"/>
              </a:rPr>
              <a:t>Byudjetga, mln so‘m</a:t>
            </a:r>
            <a:endParaRPr lang="en-US" sz="1400" dirty="0"/>
          </a:p>
        </p:txBody>
      </p:sp>
      <p:sp>
        <p:nvSpPr>
          <p:cNvPr id="7" name="Text 3"/>
          <p:cNvSpPr txBox="1"/>
          <p:nvPr/>
        </p:nvSpPr>
        <p:spPr>
          <a:xfrm>
            <a:off x="8129016" y="2468880"/>
            <a:ext cx="1645920" cy="411480"/>
          </a:xfrm>
          <a:prstGeom prst="rect">
            <a:avLst/>
          </a:prstGeom>
          <a:noFill/>
          <a:ln/>
        </p:spPr>
        <p:txBody>
          <a:bodyPr wrap="square" lIns="0" tIns="0" rIns="0" bIns="0" rtlCol="0" anchor="t"/>
          <a:lstStyle/>
          <a:p>
            <a:pPr marL="0" indent="0">
              <a:buNone/>
            </a:pPr>
            <a:r>
              <a:rPr lang="en-US" sz="2200" b="1" dirty="0">
                <a:solidFill>
                  <a:srgbClr val="0B7A5F"/>
                </a:solidFill>
                <a:latin typeface="Arial" pitchFamily="34" charset="0"/>
                <a:ea typeface="Arial" pitchFamily="34" charset="-122"/>
                <a:cs typeface="Arial" pitchFamily="34" charset="-120"/>
              </a:rPr>
              <a:t>0</a:t>
            </a:r>
            <a:endParaRPr lang="en-US" sz="2200" dirty="0"/>
          </a:p>
        </p:txBody>
      </p:sp>
      <p:sp>
        <p:nvSpPr>
          <p:cNvPr id="8" name="Text 4"/>
          <p:cNvSpPr txBox="1"/>
          <p:nvPr/>
        </p:nvSpPr>
        <p:spPr>
          <a:xfrm>
            <a:off x="9820656" y="2523744"/>
            <a:ext cx="1600200" cy="365760"/>
          </a:xfrm>
          <a:prstGeom prst="rect">
            <a:avLst/>
          </a:prstGeom>
          <a:noFill/>
          <a:ln/>
        </p:spPr>
        <p:txBody>
          <a:bodyPr wrap="square" lIns="0" tIns="0" rIns="0" bIns="0" rtlCol="0" anchor="t"/>
          <a:lstStyle/>
          <a:p>
            <a:pPr marL="0" indent="0">
              <a:buNone/>
            </a:pPr>
            <a:r>
              <a:rPr lang="en-US" sz="1250" dirty="0">
                <a:solidFill>
                  <a:srgbClr val="5C6E68"/>
                </a:solidFill>
                <a:latin typeface="Calibri" pitchFamily="34" charset="0"/>
                <a:ea typeface="Calibri" pitchFamily="34" charset="-122"/>
                <a:cs typeface="Calibri" pitchFamily="34" charset="-120"/>
              </a:rPr>
              <a:t>stavka 0 (yo‘q)</a:t>
            </a:r>
            <a:endParaRPr lang="en-US" sz="1250" dirty="0"/>
          </a:p>
        </p:txBody>
      </p:sp>
      <p:sp>
        <p:nvSpPr>
          <p:cNvPr id="9" name="Text 5"/>
          <p:cNvSpPr txBox="1"/>
          <p:nvPr/>
        </p:nvSpPr>
        <p:spPr>
          <a:xfrm>
            <a:off x="8129016" y="3182112"/>
            <a:ext cx="1645920" cy="411480"/>
          </a:xfrm>
          <a:prstGeom prst="rect">
            <a:avLst/>
          </a:prstGeom>
          <a:noFill/>
          <a:ln/>
        </p:spPr>
        <p:txBody>
          <a:bodyPr wrap="square" lIns="0" tIns="0" rIns="0" bIns="0" rtlCol="0" anchor="t"/>
          <a:lstStyle/>
          <a:p>
            <a:pPr marL="0" indent="0">
              <a:buNone/>
            </a:pPr>
            <a:r>
              <a:rPr lang="en-US" sz="2200" b="1" dirty="0">
                <a:solidFill>
                  <a:srgbClr val="0B7A5F"/>
                </a:solidFill>
                <a:latin typeface="Arial" pitchFamily="34" charset="0"/>
                <a:ea typeface="Arial" pitchFamily="34" charset="-122"/>
                <a:cs typeface="Arial" pitchFamily="34" charset="-120"/>
              </a:rPr>
              <a:t>12 340</a:t>
            </a:r>
            <a:endParaRPr lang="en-US" sz="2200" dirty="0"/>
          </a:p>
        </p:txBody>
      </p:sp>
      <p:sp>
        <p:nvSpPr>
          <p:cNvPr id="10" name="Text 6"/>
          <p:cNvSpPr txBox="1"/>
          <p:nvPr/>
        </p:nvSpPr>
        <p:spPr>
          <a:xfrm>
            <a:off x="9820656" y="3236976"/>
            <a:ext cx="1600200" cy="365760"/>
          </a:xfrm>
          <a:prstGeom prst="rect">
            <a:avLst/>
          </a:prstGeom>
          <a:noFill/>
          <a:ln/>
        </p:spPr>
        <p:txBody>
          <a:bodyPr wrap="square" lIns="0" tIns="0" rIns="0" bIns="0" rtlCol="0" anchor="t"/>
          <a:lstStyle/>
          <a:p>
            <a:pPr marL="0" indent="0">
              <a:buNone/>
            </a:pPr>
            <a:r>
              <a:rPr lang="en-US" sz="1250" dirty="0">
                <a:solidFill>
                  <a:srgbClr val="5C6E68"/>
                </a:solidFill>
                <a:latin typeface="Calibri" pitchFamily="34" charset="0"/>
                <a:ea typeface="Calibri" pitchFamily="34" charset="-122"/>
                <a:cs typeface="Calibri" pitchFamily="34" charset="-120"/>
              </a:rPr>
              <a:t>stavka 41 200 (taklif)</a:t>
            </a:r>
            <a:endParaRPr lang="en-US" sz="1250" dirty="0"/>
          </a:p>
        </p:txBody>
      </p:sp>
      <p:sp>
        <p:nvSpPr>
          <p:cNvPr id="11" name="Text 7"/>
          <p:cNvSpPr txBox="1"/>
          <p:nvPr/>
        </p:nvSpPr>
        <p:spPr>
          <a:xfrm>
            <a:off x="8129016" y="3895344"/>
            <a:ext cx="1645920" cy="411480"/>
          </a:xfrm>
          <a:prstGeom prst="rect">
            <a:avLst/>
          </a:prstGeom>
          <a:noFill/>
          <a:ln/>
        </p:spPr>
        <p:txBody>
          <a:bodyPr wrap="square" lIns="0" tIns="0" rIns="0" bIns="0" rtlCol="0" anchor="t"/>
          <a:lstStyle/>
          <a:p>
            <a:pPr marL="0" indent="0">
              <a:buNone/>
            </a:pPr>
            <a:r>
              <a:rPr lang="en-US" sz="2200" b="1" dirty="0">
                <a:solidFill>
                  <a:srgbClr val="0B7A5F"/>
                </a:solidFill>
                <a:latin typeface="Arial" pitchFamily="34" charset="0"/>
                <a:ea typeface="Arial" pitchFamily="34" charset="-122"/>
                <a:cs typeface="Arial" pitchFamily="34" charset="-120"/>
              </a:rPr>
              <a:t>24 679</a:t>
            </a:r>
            <a:endParaRPr lang="en-US" sz="2200" dirty="0"/>
          </a:p>
        </p:txBody>
      </p:sp>
      <p:sp>
        <p:nvSpPr>
          <p:cNvPr id="12" name="Text 8"/>
          <p:cNvSpPr txBox="1"/>
          <p:nvPr/>
        </p:nvSpPr>
        <p:spPr>
          <a:xfrm>
            <a:off x="9820656" y="3950208"/>
            <a:ext cx="1600200" cy="365760"/>
          </a:xfrm>
          <a:prstGeom prst="rect">
            <a:avLst/>
          </a:prstGeom>
          <a:noFill/>
          <a:ln/>
        </p:spPr>
        <p:txBody>
          <a:bodyPr wrap="square" lIns="0" tIns="0" rIns="0" bIns="0" rtlCol="0" anchor="t"/>
          <a:lstStyle/>
          <a:p>
            <a:pPr marL="0" indent="0">
              <a:buNone/>
            </a:pPr>
            <a:r>
              <a:rPr lang="en-US" sz="1250" dirty="0">
                <a:solidFill>
                  <a:srgbClr val="5C6E68"/>
                </a:solidFill>
                <a:latin typeface="Calibri" pitchFamily="34" charset="0"/>
                <a:ea typeface="Calibri" pitchFamily="34" charset="-122"/>
                <a:cs typeface="Calibri" pitchFamily="34" charset="-120"/>
              </a:rPr>
              <a:t>stavka 82 400 (×2)</a:t>
            </a:r>
            <a:endParaRPr lang="en-US" sz="1250" dirty="0"/>
          </a:p>
        </p:txBody>
      </p:sp>
      <p:sp>
        <p:nvSpPr>
          <p:cNvPr id="13" name="Text 9"/>
          <p:cNvSpPr txBox="1"/>
          <p:nvPr/>
        </p:nvSpPr>
        <p:spPr>
          <a:xfrm>
            <a:off x="8129016" y="4608576"/>
            <a:ext cx="1645920" cy="411480"/>
          </a:xfrm>
          <a:prstGeom prst="rect">
            <a:avLst/>
          </a:prstGeom>
          <a:noFill/>
          <a:ln/>
        </p:spPr>
        <p:txBody>
          <a:bodyPr wrap="square" lIns="0" tIns="0" rIns="0" bIns="0" rtlCol="0" anchor="t"/>
          <a:lstStyle/>
          <a:p>
            <a:pPr marL="0" indent="0">
              <a:buNone/>
            </a:pPr>
            <a:r>
              <a:rPr lang="en-US" sz="2200" b="1" dirty="0">
                <a:solidFill>
                  <a:srgbClr val="0B7A5F"/>
                </a:solidFill>
                <a:latin typeface="Arial" pitchFamily="34" charset="0"/>
                <a:ea typeface="Arial" pitchFamily="34" charset="-122"/>
                <a:cs typeface="Arial" pitchFamily="34" charset="-120"/>
              </a:rPr>
              <a:t>61 698</a:t>
            </a:r>
            <a:endParaRPr lang="en-US" sz="2200" dirty="0"/>
          </a:p>
        </p:txBody>
      </p:sp>
      <p:sp>
        <p:nvSpPr>
          <p:cNvPr id="14" name="Text 10"/>
          <p:cNvSpPr txBox="1"/>
          <p:nvPr/>
        </p:nvSpPr>
        <p:spPr>
          <a:xfrm>
            <a:off x="9820656" y="4663440"/>
            <a:ext cx="1600200" cy="365760"/>
          </a:xfrm>
          <a:prstGeom prst="rect">
            <a:avLst/>
          </a:prstGeom>
          <a:noFill/>
          <a:ln/>
        </p:spPr>
        <p:txBody>
          <a:bodyPr wrap="square" lIns="0" tIns="0" rIns="0" bIns="0" rtlCol="0" anchor="t"/>
          <a:lstStyle/>
          <a:p>
            <a:pPr marL="0" indent="0">
              <a:buNone/>
            </a:pPr>
            <a:r>
              <a:rPr lang="en-US" sz="1250" dirty="0">
                <a:solidFill>
                  <a:srgbClr val="5C6E68"/>
                </a:solidFill>
                <a:latin typeface="Calibri" pitchFamily="34" charset="0"/>
                <a:ea typeface="Calibri" pitchFamily="34" charset="-122"/>
                <a:cs typeface="Calibri" pitchFamily="34" charset="-120"/>
              </a:rPr>
              <a:t>stavka 206 000 (×5)</a:t>
            </a:r>
            <a:endParaRPr lang="en-US" sz="1250" dirty="0"/>
          </a:p>
        </p:txBody>
      </p:sp>
      <p:sp>
        <p:nvSpPr>
          <p:cNvPr id="15" name="Text 11"/>
          <p:cNvSpPr txBox="1"/>
          <p:nvPr/>
        </p:nvSpPr>
        <p:spPr>
          <a:xfrm>
            <a:off x="813816" y="5623560"/>
            <a:ext cx="10570464" cy="548640"/>
          </a:xfrm>
          <a:prstGeom prst="rect">
            <a:avLst/>
          </a:prstGeom>
          <a:noFill/>
          <a:ln/>
        </p:spPr>
        <p:txBody>
          <a:bodyPr wrap="square" lIns="0" tIns="0" rIns="0" bIns="0" rtlCol="0" anchor="t"/>
          <a:lstStyle/>
          <a:p>
            <a:pPr marL="0" indent="0">
              <a:buNone/>
            </a:pPr>
            <a:r>
              <a:rPr lang="en-US" sz="1500" dirty="0">
                <a:solidFill>
                  <a:srgbClr val="3E4F49"/>
                </a:solidFill>
                <a:latin typeface="Calibri" pitchFamily="34" charset="0"/>
                <a:ea typeface="Calibri" pitchFamily="34" charset="-122"/>
                <a:cs typeface="Calibri" pitchFamily="34" charset="-120"/>
              </a:rPr>
              <a:t>Stavka oshgani sari Yevropa Ittifoqiga to‘lov kamayadi, chunki to‘langan narx chegiriladi. Korxonaning umumiy yuki esa oshadi, shuning uchun stavka bosqichma-bosqich kiritiladi.</a:t>
            </a:r>
            <a:endParaRPr lang="en-US" sz="1500" dirty="0"/>
          </a:p>
        </p:txBody>
      </p:sp>
      <p:sp>
        <p:nvSpPr>
          <p:cNvPr id="16" name="Izoh"/>
          <p:cNvSpPr txBox="1"/>
          <p:nvPr/>
        </p:nvSpPr>
        <p:spPr>
          <a:xfrm>
            <a:off x="813816" y="6355080"/>
            <a:ext cx="9875520" cy="274320"/>
          </a:xfrm>
          <a:prstGeom prst="rect">
            <a:avLst/>
          </a:prstGeom>
          <a:noFill/>
          <a:ln/>
        </p:spPr>
        <p:txBody>
          <a:bodyPr wrap="square" lIns="0" tIns="0" rIns="0" bIns="0" rtlCol="0" anchor="ctr"/>
          <a:lstStyle/>
          <a:p>
            <a:pPr marL="0" indent="0">
              <a:buNone/>
            </a:pPr>
            <a:r>
              <a:rPr lang="en-US" sz="1100" dirty="0">
                <a:solidFill>
                  <a:srgbClr val="6B7C76"/>
                </a:solidFill>
                <a:latin typeface="Calibri" pitchFamily="34" charset="0"/>
                <a:ea typeface="Calibri" pitchFamily="34" charset="-122"/>
                <a:cs typeface="Calibri" pitchFamily="34" charset="-120"/>
              </a:rPr>
              <a:t>Namuna sement zavodi, 2026-yil II chorak; milliy stavka so‘m/t CO₂e; byudjet to‘lovi butun ishlab chiqarish emissiyasidan</a:t>
            </a:r>
            <a:endParaRPr lang="en-US" sz="11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C76"/>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0B7A5F"/>
                </a:solidFill>
                <a:latin typeface="Calibri" pitchFamily="34" charset="0"/>
                <a:ea typeface="Calibri" pitchFamily="34" charset="-122"/>
                <a:cs typeface="Calibri" pitchFamily="34" charset="-120"/>
              </a:rPr>
              <a:t>YO‘L XARITASI</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14241F"/>
                </a:solidFill>
                <a:latin typeface="Arial" pitchFamily="34" charset="0"/>
                <a:ea typeface="Arial" pitchFamily="34" charset="-122"/>
                <a:cs typeface="Arial" pitchFamily="34" charset="-120"/>
              </a:rPr>
              <a:t>2027-yil oxirida ishga tushadi</a:t>
            </a:r>
            <a:endParaRPr lang="en-US" sz="3200" dirty="0"/>
          </a:p>
        </p:txBody>
      </p:sp>
      <p:sp>
        <p:nvSpPr>
          <p:cNvPr id="5" name="Text 2"/>
          <p:cNvSpPr txBox="1"/>
          <p:nvPr/>
        </p:nvSpPr>
        <p:spPr>
          <a:xfrm>
            <a:off x="813816"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Dek</a:t>
            </a:r>
            <a:endParaRPr lang="en-US" sz="1300" dirty="0"/>
          </a:p>
        </p:txBody>
      </p:sp>
      <p:sp>
        <p:nvSpPr>
          <p:cNvPr id="6" name="Text 3"/>
          <p:cNvSpPr txBox="1"/>
          <p:nvPr/>
        </p:nvSpPr>
        <p:spPr>
          <a:xfrm>
            <a:off x="1626929"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Yan</a:t>
            </a:r>
            <a:endParaRPr lang="en-US" sz="1300" dirty="0"/>
          </a:p>
        </p:txBody>
      </p:sp>
      <p:sp>
        <p:nvSpPr>
          <p:cNvPr id="7" name="Text 4"/>
          <p:cNvSpPr txBox="1"/>
          <p:nvPr/>
        </p:nvSpPr>
        <p:spPr>
          <a:xfrm>
            <a:off x="2440041"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Fev</a:t>
            </a:r>
            <a:endParaRPr lang="en-US" sz="1300" dirty="0"/>
          </a:p>
        </p:txBody>
      </p:sp>
      <p:sp>
        <p:nvSpPr>
          <p:cNvPr id="8" name="Text 5"/>
          <p:cNvSpPr txBox="1"/>
          <p:nvPr/>
        </p:nvSpPr>
        <p:spPr>
          <a:xfrm>
            <a:off x="3253154"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Mar</a:t>
            </a:r>
            <a:endParaRPr lang="en-US" sz="1300" dirty="0"/>
          </a:p>
        </p:txBody>
      </p:sp>
      <p:sp>
        <p:nvSpPr>
          <p:cNvPr id="9" name="Text 6"/>
          <p:cNvSpPr txBox="1"/>
          <p:nvPr/>
        </p:nvSpPr>
        <p:spPr>
          <a:xfrm>
            <a:off x="4066266"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Apr</a:t>
            </a:r>
            <a:endParaRPr lang="en-US" sz="1300" dirty="0"/>
          </a:p>
        </p:txBody>
      </p:sp>
      <p:sp>
        <p:nvSpPr>
          <p:cNvPr id="10" name="Text 7"/>
          <p:cNvSpPr txBox="1"/>
          <p:nvPr/>
        </p:nvSpPr>
        <p:spPr>
          <a:xfrm>
            <a:off x="4879379"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May</a:t>
            </a:r>
            <a:endParaRPr lang="en-US" sz="1300" dirty="0"/>
          </a:p>
        </p:txBody>
      </p:sp>
      <p:sp>
        <p:nvSpPr>
          <p:cNvPr id="11" name="Text 8"/>
          <p:cNvSpPr txBox="1"/>
          <p:nvPr/>
        </p:nvSpPr>
        <p:spPr>
          <a:xfrm>
            <a:off x="5692492"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Iyun</a:t>
            </a:r>
            <a:endParaRPr lang="en-US" sz="1300" dirty="0"/>
          </a:p>
        </p:txBody>
      </p:sp>
      <p:sp>
        <p:nvSpPr>
          <p:cNvPr id="12" name="Text 9"/>
          <p:cNvSpPr txBox="1"/>
          <p:nvPr/>
        </p:nvSpPr>
        <p:spPr>
          <a:xfrm>
            <a:off x="6505604"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Iyul</a:t>
            </a:r>
            <a:endParaRPr lang="en-US" sz="1300" dirty="0"/>
          </a:p>
        </p:txBody>
      </p:sp>
      <p:sp>
        <p:nvSpPr>
          <p:cNvPr id="13" name="Text 10"/>
          <p:cNvSpPr txBox="1"/>
          <p:nvPr/>
        </p:nvSpPr>
        <p:spPr>
          <a:xfrm>
            <a:off x="7318717"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Avg</a:t>
            </a:r>
            <a:endParaRPr lang="en-US" sz="1300" dirty="0"/>
          </a:p>
        </p:txBody>
      </p:sp>
      <p:sp>
        <p:nvSpPr>
          <p:cNvPr id="14" name="Text 11"/>
          <p:cNvSpPr txBox="1"/>
          <p:nvPr/>
        </p:nvSpPr>
        <p:spPr>
          <a:xfrm>
            <a:off x="8131830"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Sen</a:t>
            </a:r>
            <a:endParaRPr lang="en-US" sz="1300" dirty="0"/>
          </a:p>
        </p:txBody>
      </p:sp>
      <p:sp>
        <p:nvSpPr>
          <p:cNvPr id="15" name="Text 12"/>
          <p:cNvSpPr txBox="1"/>
          <p:nvPr/>
        </p:nvSpPr>
        <p:spPr>
          <a:xfrm>
            <a:off x="8944942"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Okt</a:t>
            </a:r>
            <a:endParaRPr lang="en-US" sz="1300" dirty="0"/>
          </a:p>
        </p:txBody>
      </p:sp>
      <p:sp>
        <p:nvSpPr>
          <p:cNvPr id="16" name="Text 13"/>
          <p:cNvSpPr txBox="1"/>
          <p:nvPr/>
        </p:nvSpPr>
        <p:spPr>
          <a:xfrm>
            <a:off x="9758055"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Noy</a:t>
            </a:r>
            <a:endParaRPr lang="en-US" sz="1300" dirty="0"/>
          </a:p>
        </p:txBody>
      </p:sp>
      <p:sp>
        <p:nvSpPr>
          <p:cNvPr id="17" name="Text 14"/>
          <p:cNvSpPr txBox="1"/>
          <p:nvPr/>
        </p:nvSpPr>
        <p:spPr>
          <a:xfrm>
            <a:off x="10571167" y="2057400"/>
            <a:ext cx="813113" cy="274320"/>
          </a:xfrm>
          <a:prstGeom prst="rect">
            <a:avLst/>
          </a:prstGeom>
          <a:noFill/>
          <a:ln/>
        </p:spPr>
        <p:txBody>
          <a:bodyPr wrap="square" lIns="0" tIns="0" rIns="0" bIns="0" rtlCol="0" anchor="t"/>
          <a:lstStyle/>
          <a:p>
            <a:pPr marL="0" indent="0">
              <a:buNone/>
            </a:pPr>
            <a:r>
              <a:rPr lang="en-US" sz="1300" dirty="0">
                <a:solidFill>
                  <a:srgbClr val="5C6E68"/>
                </a:solidFill>
                <a:latin typeface="Calibri" pitchFamily="34" charset="0"/>
                <a:ea typeface="Calibri" pitchFamily="34" charset="-122"/>
                <a:cs typeface="Calibri" pitchFamily="34" charset="-120"/>
              </a:rPr>
              <a:t>Dek</a:t>
            </a:r>
            <a:endParaRPr lang="en-US" sz="1300" dirty="0"/>
          </a:p>
        </p:txBody>
      </p:sp>
      <p:sp>
        <p:nvSpPr>
          <p:cNvPr id="18" name="O‘q"/>
          <p:cNvSpPr/>
          <p:nvPr/>
        </p:nvSpPr>
        <p:spPr>
          <a:xfrm>
            <a:off x="813816" y="2404872"/>
            <a:ext cx="10570464" cy="0"/>
          </a:xfrm>
          <a:prstGeom prst="line">
            <a:avLst/>
          </a:prstGeom>
          <a:noFill/>
          <a:ln w="9525">
            <a:solidFill>
              <a:srgbClr val="D6E0DB"/>
            </a:solidFill>
            <a:prstDash val="solid"/>
          </a:ln>
        </p:spPr>
      </p:sp>
      <p:sp>
        <p:nvSpPr>
          <p:cNvPr id="19" name="Bosqich 1"/>
          <p:cNvSpPr/>
          <p:nvPr/>
        </p:nvSpPr>
        <p:spPr>
          <a:xfrm>
            <a:off x="813816" y="2606040"/>
            <a:ext cx="758249" cy="384048"/>
          </a:xfrm>
          <a:prstGeom prst="roundRect">
            <a:avLst>
              <a:gd name="adj" fmla="val 19048"/>
            </a:avLst>
          </a:prstGeom>
          <a:solidFill>
            <a:srgbClr val="9FC9BA"/>
          </a:solidFill>
          <a:ln w="12700">
            <a:solidFill>
              <a:srgbClr val="9FC9BA"/>
            </a:solidFill>
            <a:prstDash val="solid"/>
          </a:ln>
        </p:spPr>
      </p:sp>
      <p:sp>
        <p:nvSpPr>
          <p:cNvPr id="20" name="Text 17"/>
          <p:cNvSpPr txBox="1"/>
          <p:nvPr/>
        </p:nvSpPr>
        <p:spPr>
          <a:xfrm>
            <a:off x="1681793" y="2606040"/>
            <a:ext cx="3657600" cy="384048"/>
          </a:xfrm>
          <a:prstGeom prst="rect">
            <a:avLst/>
          </a:prstGeom>
          <a:noFill/>
          <a:ln/>
        </p:spPr>
        <p:txBody>
          <a:bodyPr wrap="square" lIns="0" tIns="0" rIns="0" bIns="0" rtlCol="0" anchor="ctr"/>
          <a:lstStyle/>
          <a:p>
            <a:pPr marL="0" indent="0">
              <a:buNone/>
            </a:pPr>
            <a:r>
              <a:rPr lang="en-US" sz="1400" b="1" dirty="0">
                <a:solidFill>
                  <a:srgbClr val="14241F"/>
                </a:solidFill>
                <a:latin typeface="Calibri" pitchFamily="34" charset="0"/>
                <a:ea typeface="Calibri" pitchFamily="34" charset="-122"/>
                <a:cs typeface="Calibri" pitchFamily="34" charset="-120"/>
              </a:rPr>
              <a:t>Tayyorgarlik, korxonalar so‘rovi</a:t>
            </a:r>
            <a:endParaRPr lang="en-US" sz="1400" dirty="0"/>
          </a:p>
        </p:txBody>
      </p:sp>
      <p:sp>
        <p:nvSpPr>
          <p:cNvPr id="21" name="Bosqich 2"/>
          <p:cNvSpPr/>
          <p:nvPr/>
        </p:nvSpPr>
        <p:spPr>
          <a:xfrm>
            <a:off x="1626929" y="3136392"/>
            <a:ext cx="1571361" cy="384048"/>
          </a:xfrm>
          <a:prstGeom prst="roundRect">
            <a:avLst>
              <a:gd name="adj" fmla="val 19048"/>
            </a:avLst>
          </a:prstGeom>
          <a:solidFill>
            <a:srgbClr val="5FAF95"/>
          </a:solidFill>
          <a:ln w="12700">
            <a:solidFill>
              <a:srgbClr val="5FAF95"/>
            </a:solidFill>
            <a:prstDash val="solid"/>
          </a:ln>
        </p:spPr>
      </p:sp>
      <p:sp>
        <p:nvSpPr>
          <p:cNvPr id="22" name="Text 19"/>
          <p:cNvSpPr txBox="1"/>
          <p:nvPr/>
        </p:nvSpPr>
        <p:spPr>
          <a:xfrm>
            <a:off x="3308018" y="3136392"/>
            <a:ext cx="3657600" cy="384048"/>
          </a:xfrm>
          <a:prstGeom prst="rect">
            <a:avLst/>
          </a:prstGeom>
          <a:noFill/>
          <a:ln/>
        </p:spPr>
        <p:txBody>
          <a:bodyPr wrap="square" lIns="0" tIns="0" rIns="0" bIns="0" rtlCol="0" anchor="ctr"/>
          <a:lstStyle/>
          <a:p>
            <a:pPr marL="0" indent="0">
              <a:buNone/>
            </a:pPr>
            <a:r>
              <a:rPr lang="en-US" sz="1400" b="1" dirty="0">
                <a:solidFill>
                  <a:srgbClr val="14241F"/>
                </a:solidFill>
                <a:latin typeface="Calibri" pitchFamily="34" charset="0"/>
                <a:ea typeface="Calibri" pitchFamily="34" charset="-122"/>
                <a:cs typeface="Calibri" pitchFamily="34" charset="-120"/>
              </a:rPr>
              <a:t>Loyihalash va prototip</a:t>
            </a:r>
            <a:endParaRPr lang="en-US" sz="1400" dirty="0"/>
          </a:p>
        </p:txBody>
      </p:sp>
      <p:sp>
        <p:nvSpPr>
          <p:cNvPr id="23" name="Bosqich 3"/>
          <p:cNvSpPr/>
          <p:nvPr/>
        </p:nvSpPr>
        <p:spPr>
          <a:xfrm>
            <a:off x="3253154" y="3666744"/>
            <a:ext cx="2384474" cy="384048"/>
          </a:xfrm>
          <a:prstGeom prst="roundRect">
            <a:avLst>
              <a:gd name="adj" fmla="val 19048"/>
            </a:avLst>
          </a:prstGeom>
          <a:solidFill>
            <a:srgbClr val="0B7A5F"/>
          </a:solidFill>
          <a:ln w="12700">
            <a:solidFill>
              <a:srgbClr val="0B7A5F"/>
            </a:solidFill>
            <a:prstDash val="solid"/>
          </a:ln>
        </p:spPr>
      </p:sp>
      <p:sp>
        <p:nvSpPr>
          <p:cNvPr id="24" name="Text 21"/>
          <p:cNvSpPr txBox="1"/>
          <p:nvPr/>
        </p:nvSpPr>
        <p:spPr>
          <a:xfrm>
            <a:off x="3390314" y="3666744"/>
            <a:ext cx="2201594" cy="384048"/>
          </a:xfrm>
          <a:prstGeom prst="rect">
            <a:avLst/>
          </a:prstGeom>
          <a:noFill/>
          <a:ln/>
        </p:spPr>
        <p:txBody>
          <a:bodyPr wrap="square" lIns="0" tIns="0" rIns="0" bIns="0" rtlCol="0" anchor="ctr"/>
          <a:lstStyle/>
          <a:p>
            <a:pPr marL="0" indent="0">
              <a:buNone/>
            </a:pPr>
            <a:r>
              <a:rPr lang="en-US" sz="1400" b="1" dirty="0">
                <a:solidFill>
                  <a:srgbClr val="F3F6F3"/>
                </a:solidFill>
                <a:latin typeface="Calibri" pitchFamily="34" charset="0"/>
                <a:ea typeface="Calibri" pitchFamily="34" charset="-122"/>
                <a:cs typeface="Calibri" pitchFamily="34" charset="-120"/>
              </a:rPr>
              <a:t>Sanoat MVP</a:t>
            </a:r>
            <a:endParaRPr lang="en-US" sz="1400" dirty="0"/>
          </a:p>
        </p:txBody>
      </p:sp>
      <p:sp>
        <p:nvSpPr>
          <p:cNvPr id="25" name="Bosqich 4"/>
          <p:cNvSpPr/>
          <p:nvPr/>
        </p:nvSpPr>
        <p:spPr>
          <a:xfrm>
            <a:off x="5692492" y="4197096"/>
            <a:ext cx="2384474" cy="384048"/>
          </a:xfrm>
          <a:prstGeom prst="roundRect">
            <a:avLst>
              <a:gd name="adj" fmla="val 19048"/>
            </a:avLst>
          </a:prstGeom>
          <a:solidFill>
            <a:srgbClr val="E3A64A"/>
          </a:solidFill>
          <a:ln w="12700">
            <a:solidFill>
              <a:srgbClr val="E3A64A"/>
            </a:solidFill>
            <a:prstDash val="solid"/>
          </a:ln>
        </p:spPr>
      </p:sp>
      <p:sp>
        <p:nvSpPr>
          <p:cNvPr id="26" name="Text 23"/>
          <p:cNvSpPr txBox="1"/>
          <p:nvPr/>
        </p:nvSpPr>
        <p:spPr>
          <a:xfrm>
            <a:off x="5829652" y="4197096"/>
            <a:ext cx="2201594" cy="384048"/>
          </a:xfrm>
          <a:prstGeom prst="rect">
            <a:avLst/>
          </a:prstGeom>
          <a:noFill/>
          <a:ln/>
        </p:spPr>
        <p:txBody>
          <a:bodyPr wrap="square" lIns="0" tIns="0" rIns="0" bIns="0" rtlCol="0" anchor="ctr"/>
          <a:lstStyle/>
          <a:p>
            <a:pPr marL="0" indent="0">
              <a:buNone/>
            </a:pPr>
            <a:r>
              <a:rPr lang="en-US" sz="1400" b="1" dirty="0">
                <a:solidFill>
                  <a:srgbClr val="14241F"/>
                </a:solidFill>
                <a:latin typeface="Calibri" pitchFamily="34" charset="0"/>
                <a:ea typeface="Calibri" pitchFamily="34" charset="-122"/>
                <a:cs typeface="Calibri" pitchFamily="34" charset="-120"/>
              </a:rPr>
              <a:t>Pilot: 5–10 korxona</a:t>
            </a:r>
            <a:endParaRPr lang="en-US" sz="1400" dirty="0"/>
          </a:p>
        </p:txBody>
      </p:sp>
      <p:sp>
        <p:nvSpPr>
          <p:cNvPr id="27" name="Bosqich 5"/>
          <p:cNvSpPr/>
          <p:nvPr/>
        </p:nvSpPr>
        <p:spPr>
          <a:xfrm>
            <a:off x="8131830" y="4727448"/>
            <a:ext cx="2384474" cy="384048"/>
          </a:xfrm>
          <a:prstGeom prst="roundRect">
            <a:avLst>
              <a:gd name="adj" fmla="val 19048"/>
            </a:avLst>
          </a:prstGeom>
          <a:solidFill>
            <a:srgbClr val="0B7A5F"/>
          </a:solidFill>
          <a:ln w="12700">
            <a:solidFill>
              <a:srgbClr val="0B7A5F"/>
            </a:solidFill>
            <a:prstDash val="solid"/>
          </a:ln>
        </p:spPr>
      </p:sp>
      <p:sp>
        <p:nvSpPr>
          <p:cNvPr id="28" name="Text 25"/>
          <p:cNvSpPr txBox="1"/>
          <p:nvPr/>
        </p:nvSpPr>
        <p:spPr>
          <a:xfrm>
            <a:off x="8268990" y="4727448"/>
            <a:ext cx="2201594" cy="384048"/>
          </a:xfrm>
          <a:prstGeom prst="rect">
            <a:avLst/>
          </a:prstGeom>
          <a:noFill/>
          <a:ln/>
        </p:spPr>
        <p:txBody>
          <a:bodyPr wrap="square" lIns="0" tIns="0" rIns="0" bIns="0" rtlCol="0" anchor="ctr"/>
          <a:lstStyle/>
          <a:p>
            <a:pPr marL="0" indent="0">
              <a:buNone/>
            </a:pPr>
            <a:r>
              <a:rPr lang="en-US" sz="1400" b="1" dirty="0">
                <a:solidFill>
                  <a:srgbClr val="F3F6F3"/>
                </a:solidFill>
                <a:latin typeface="Calibri" pitchFamily="34" charset="0"/>
                <a:ea typeface="Calibri" pitchFamily="34" charset="-122"/>
                <a:cs typeface="Calibri" pitchFamily="34" charset="-120"/>
              </a:rPr>
              <a:t>To‘liq versiya</a:t>
            </a:r>
            <a:endParaRPr lang="en-US" sz="1400" dirty="0"/>
          </a:p>
        </p:txBody>
      </p:sp>
      <p:sp>
        <p:nvSpPr>
          <p:cNvPr id="29" name="Bosqich 6"/>
          <p:cNvSpPr/>
          <p:nvPr/>
        </p:nvSpPr>
        <p:spPr>
          <a:xfrm>
            <a:off x="10571167" y="5257800"/>
            <a:ext cx="758249" cy="384048"/>
          </a:xfrm>
          <a:prstGeom prst="roundRect">
            <a:avLst>
              <a:gd name="adj" fmla="val 19048"/>
            </a:avLst>
          </a:prstGeom>
          <a:solidFill>
            <a:srgbClr val="10201C"/>
          </a:solidFill>
          <a:ln w="12700">
            <a:solidFill>
              <a:srgbClr val="10201C"/>
            </a:solidFill>
            <a:prstDash val="solid"/>
          </a:ln>
        </p:spPr>
      </p:sp>
      <p:sp>
        <p:nvSpPr>
          <p:cNvPr id="30" name="Text 27"/>
          <p:cNvSpPr txBox="1"/>
          <p:nvPr/>
        </p:nvSpPr>
        <p:spPr>
          <a:xfrm>
            <a:off x="7553647" y="5257800"/>
            <a:ext cx="2926080" cy="384048"/>
          </a:xfrm>
          <a:prstGeom prst="rect">
            <a:avLst/>
          </a:prstGeom>
          <a:noFill/>
          <a:ln/>
        </p:spPr>
        <p:txBody>
          <a:bodyPr wrap="square" lIns="0" tIns="0" rIns="0" bIns="0" rtlCol="0" anchor="ctr"/>
          <a:lstStyle/>
          <a:p>
            <a:pPr marL="0" indent="0" algn="r">
              <a:buNone/>
            </a:pPr>
            <a:r>
              <a:rPr lang="en-US" sz="1400" b="1" dirty="0">
                <a:solidFill>
                  <a:srgbClr val="14241F"/>
                </a:solidFill>
                <a:latin typeface="Calibri" pitchFamily="34" charset="0"/>
                <a:ea typeface="Calibri" pitchFamily="34" charset="-122"/>
                <a:cs typeface="Calibri" pitchFamily="34" charset="-120"/>
              </a:rPr>
              <a:t>Qabul, ekspertiza, o‘qitish</a:t>
            </a:r>
            <a:endParaRPr lang="en-US" sz="1400" dirty="0"/>
          </a:p>
        </p:txBody>
      </p:sp>
      <p:sp>
        <p:nvSpPr>
          <p:cNvPr id="31" name="CBAM muddati"/>
          <p:cNvSpPr/>
          <p:nvPr/>
        </p:nvSpPr>
        <p:spPr>
          <a:xfrm>
            <a:off x="8944942" y="2514600"/>
            <a:ext cx="0" cy="2139696"/>
          </a:xfrm>
          <a:prstGeom prst="line">
            <a:avLst/>
          </a:prstGeom>
          <a:noFill/>
          <a:ln w="31750">
            <a:solidFill>
              <a:srgbClr val="E3A64A"/>
            </a:solidFill>
            <a:prstDash val="solid"/>
          </a:ln>
        </p:spPr>
      </p:sp>
      <p:sp>
        <p:nvSpPr>
          <p:cNvPr id="32" name="Text 29"/>
          <p:cNvSpPr txBox="1"/>
          <p:nvPr/>
        </p:nvSpPr>
        <p:spPr>
          <a:xfrm>
            <a:off x="9054670" y="2624328"/>
            <a:ext cx="2286000" cy="640080"/>
          </a:xfrm>
          <a:prstGeom prst="rect">
            <a:avLst/>
          </a:prstGeom>
          <a:noFill/>
          <a:ln/>
        </p:spPr>
        <p:txBody>
          <a:bodyPr wrap="square" lIns="0" tIns="0" rIns="0" bIns="0" rtlCol="0" anchor="t"/>
          <a:lstStyle/>
          <a:p>
            <a:pPr marL="0" indent="0">
              <a:buNone/>
            </a:pPr>
            <a:r>
              <a:rPr lang="en-US" sz="1300" b="1" dirty="0">
                <a:solidFill>
                  <a:srgbClr val="9A6412"/>
                </a:solidFill>
                <a:latin typeface="Calibri" pitchFamily="34" charset="0"/>
                <a:ea typeface="Calibri" pitchFamily="34" charset="-122"/>
                <a:cs typeface="Calibri" pitchFamily="34" charset="-120"/>
              </a:rPr>
              <a:t>30.09.2027 — birinchi CBAM deklaratsiyasi</a:t>
            </a:r>
            <a:endParaRPr lang="en-US" sz="1300" dirty="0"/>
          </a:p>
        </p:txBody>
      </p:sp>
      <p:sp>
        <p:nvSpPr>
          <p:cNvPr id="33" name="Izoh"/>
          <p:cNvSpPr txBox="1"/>
          <p:nvPr/>
        </p:nvSpPr>
        <p:spPr>
          <a:xfrm>
            <a:off x="813816" y="6355080"/>
            <a:ext cx="9875520" cy="274320"/>
          </a:xfrm>
          <a:prstGeom prst="rect">
            <a:avLst/>
          </a:prstGeom>
          <a:noFill/>
          <a:ln/>
        </p:spPr>
        <p:txBody>
          <a:bodyPr wrap="square" lIns="0" tIns="0" rIns="0" bIns="0" rtlCol="0" anchor="ctr"/>
          <a:lstStyle/>
          <a:p>
            <a:pPr marL="0" indent="0">
              <a:buNone/>
            </a:pPr>
            <a:r>
              <a:rPr lang="en-US" sz="1100" dirty="0">
                <a:solidFill>
                  <a:srgbClr val="6B7C76"/>
                </a:solidFill>
                <a:latin typeface="Calibri" pitchFamily="34" charset="0"/>
                <a:ea typeface="Calibri" pitchFamily="34" charset="-122"/>
                <a:cs typeface="Calibri" pitchFamily="34" charset="-120"/>
              </a:rPr>
              <a:t>Texnik topshiriq, 14-bo‘lim; muddatlar shartnoma imzolangan sanaga bog‘liq</a:t>
            </a:r>
            <a:endParaRPr lang="en-US" sz="1100" dirty="0"/>
          </a:p>
        </p:txBody>
      </p:sp>
      <p:sp>
        <p:nvSpPr>
          <p:cNvPr id="4"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C76"/>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0B7A5F"/>
                </a:solidFill>
                <a:latin typeface="Calibri" pitchFamily="34" charset="0"/>
                <a:ea typeface="Calibri" pitchFamily="34" charset="-122"/>
                <a:cs typeface="Calibri" pitchFamily="34" charset="-120"/>
              </a:rPr>
              <a:t>SAMARADORLIK</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14241F"/>
                </a:solidFill>
                <a:latin typeface="Arial" pitchFamily="34" charset="0"/>
                <a:ea typeface="Arial" pitchFamily="34" charset="-122"/>
                <a:cs typeface="Arial" pitchFamily="34" charset="-120"/>
              </a:rPr>
              <a:t>O‘lchanadigan maqsadlar</a:t>
            </a:r>
            <a:endParaRPr lang="en-US" sz="3200" dirty="0"/>
          </a:p>
        </p:txBody>
      </p:sp>
      <p:sp>
        <p:nvSpPr>
          <p:cNvPr id="5" name="Maqsad 1"/>
          <p:cNvSpPr/>
          <p:nvPr/>
        </p:nvSpPr>
        <p:spPr>
          <a:xfrm>
            <a:off x="813816" y="2057400"/>
            <a:ext cx="2457450" cy="2514600"/>
          </a:xfrm>
          <a:prstGeom prst="roundRect">
            <a:avLst>
              <a:gd name="adj" fmla="val 4465"/>
            </a:avLst>
          </a:prstGeom>
          <a:solidFill>
            <a:srgbClr val="FFFFFF"/>
          </a:solidFill>
          <a:ln w="9525">
            <a:solidFill>
              <a:srgbClr val="D6E0DB"/>
            </a:solidFill>
            <a:prstDash val="solid"/>
          </a:ln>
        </p:spPr>
      </p:sp>
      <p:sp>
        <p:nvSpPr>
          <p:cNvPr id="6" name="Text 3"/>
          <p:cNvSpPr txBox="1"/>
          <p:nvPr/>
        </p:nvSpPr>
        <p:spPr>
          <a:xfrm>
            <a:off x="1088136" y="2331720"/>
            <a:ext cx="1908810" cy="731520"/>
          </a:xfrm>
          <a:prstGeom prst="rect">
            <a:avLst/>
          </a:prstGeom>
          <a:noFill/>
          <a:ln/>
        </p:spPr>
        <p:txBody>
          <a:bodyPr wrap="square" lIns="0" tIns="0" rIns="0" bIns="0" rtlCol="0" anchor="t"/>
          <a:lstStyle/>
          <a:p>
            <a:pPr marL="0" indent="0">
              <a:buNone/>
            </a:pPr>
            <a:r>
              <a:rPr lang="en-US" sz="4000" b="1" dirty="0">
                <a:solidFill>
                  <a:srgbClr val="0B7A5F"/>
                </a:solidFill>
                <a:latin typeface="Arial" pitchFamily="34" charset="0"/>
                <a:ea typeface="Arial" pitchFamily="34" charset="-122"/>
                <a:cs typeface="Arial" pitchFamily="34" charset="-120"/>
              </a:rPr>
              <a:t>100%</a:t>
            </a:r>
            <a:endParaRPr lang="en-US" sz="4000" dirty="0"/>
          </a:p>
        </p:txBody>
      </p:sp>
      <p:sp>
        <p:nvSpPr>
          <p:cNvPr id="7" name="Text 4"/>
          <p:cNvSpPr txBox="1"/>
          <p:nvPr/>
        </p:nvSpPr>
        <p:spPr>
          <a:xfrm>
            <a:off x="1088136" y="3200400"/>
            <a:ext cx="1908810" cy="1234440"/>
          </a:xfrm>
          <a:prstGeom prst="rect">
            <a:avLst/>
          </a:prstGeom>
          <a:noFill/>
          <a:ln/>
        </p:spPr>
        <p:txBody>
          <a:bodyPr wrap="square" lIns="0" tIns="0" rIns="0" bIns="0" rtlCol="0" anchor="t"/>
          <a:lstStyle/>
          <a:p>
            <a:pPr marL="0" indent="0">
              <a:buNone/>
            </a:pPr>
            <a:r>
              <a:rPr lang="en-US" sz="1500" dirty="0">
                <a:solidFill>
                  <a:srgbClr val="3E4F49"/>
                </a:solidFill>
                <a:latin typeface="Calibri" pitchFamily="34" charset="0"/>
                <a:ea typeface="Calibri" pitchFamily="34" charset="-122"/>
                <a:cs typeface="Calibri" pitchFamily="34" charset="-120"/>
              </a:rPr>
              <a:t>CBAM qamrovidagi eksportyorlar platformada, 2027-yil oxiri</a:t>
            </a:r>
            <a:endParaRPr lang="en-US" sz="1500" dirty="0"/>
          </a:p>
        </p:txBody>
      </p:sp>
      <p:sp>
        <p:nvSpPr>
          <p:cNvPr id="8" name="Maqsad 2"/>
          <p:cNvSpPr/>
          <p:nvPr/>
        </p:nvSpPr>
        <p:spPr>
          <a:xfrm>
            <a:off x="3518154" y="2057400"/>
            <a:ext cx="2457450" cy="2514600"/>
          </a:xfrm>
          <a:prstGeom prst="roundRect">
            <a:avLst>
              <a:gd name="adj" fmla="val 4465"/>
            </a:avLst>
          </a:prstGeom>
          <a:solidFill>
            <a:srgbClr val="FFFFFF"/>
          </a:solidFill>
          <a:ln w="9525">
            <a:solidFill>
              <a:srgbClr val="D6E0DB"/>
            </a:solidFill>
            <a:prstDash val="solid"/>
          </a:ln>
        </p:spPr>
      </p:sp>
      <p:sp>
        <p:nvSpPr>
          <p:cNvPr id="9" name="Text 6"/>
          <p:cNvSpPr txBox="1"/>
          <p:nvPr/>
        </p:nvSpPr>
        <p:spPr>
          <a:xfrm>
            <a:off x="3792474" y="2331720"/>
            <a:ext cx="1908810" cy="731520"/>
          </a:xfrm>
          <a:prstGeom prst="rect">
            <a:avLst/>
          </a:prstGeom>
          <a:noFill/>
          <a:ln/>
        </p:spPr>
        <p:txBody>
          <a:bodyPr wrap="square" lIns="0" tIns="0" rIns="0" bIns="0" rtlCol="0" anchor="t"/>
          <a:lstStyle/>
          <a:p>
            <a:pPr marL="0" indent="0">
              <a:buNone/>
            </a:pPr>
            <a:r>
              <a:rPr lang="en-US" sz="4000" b="1" dirty="0">
                <a:solidFill>
                  <a:srgbClr val="0B7A5F"/>
                </a:solidFill>
                <a:latin typeface="Arial" pitchFamily="34" charset="0"/>
                <a:ea typeface="Arial" pitchFamily="34" charset="-122"/>
                <a:cs typeface="Arial" pitchFamily="34" charset="-120"/>
              </a:rPr>
              <a:t>90%</a:t>
            </a:r>
            <a:endParaRPr lang="en-US" sz="4000" dirty="0"/>
          </a:p>
        </p:txBody>
      </p:sp>
      <p:sp>
        <p:nvSpPr>
          <p:cNvPr id="10" name="Text 7"/>
          <p:cNvSpPr txBox="1"/>
          <p:nvPr/>
        </p:nvSpPr>
        <p:spPr>
          <a:xfrm>
            <a:off x="3792474" y="3200400"/>
            <a:ext cx="1908810" cy="1234440"/>
          </a:xfrm>
          <a:prstGeom prst="rect">
            <a:avLst/>
          </a:prstGeom>
          <a:noFill/>
          <a:ln/>
        </p:spPr>
        <p:txBody>
          <a:bodyPr wrap="square" lIns="0" tIns="0" rIns="0" bIns="0" rtlCol="0" anchor="t"/>
          <a:lstStyle/>
          <a:p>
            <a:pPr marL="0" indent="0">
              <a:buNone/>
            </a:pPr>
            <a:r>
              <a:rPr lang="en-US" sz="1500" dirty="0">
                <a:solidFill>
                  <a:srgbClr val="3E4F49"/>
                </a:solidFill>
                <a:latin typeface="Calibri" pitchFamily="34" charset="0"/>
                <a:ea typeface="Calibri" pitchFamily="34" charset="-122"/>
                <a:cs typeface="Calibri" pitchFamily="34" charset="-120"/>
              </a:rPr>
              <a:t>eksport tekshirilgan haqiqiy ma’lumot bilan, 2028 (2027-yilda 70%)</a:t>
            </a:r>
            <a:endParaRPr lang="en-US" sz="1500" dirty="0"/>
          </a:p>
        </p:txBody>
      </p:sp>
      <p:sp>
        <p:nvSpPr>
          <p:cNvPr id="11" name="Maqsad 3"/>
          <p:cNvSpPr/>
          <p:nvPr/>
        </p:nvSpPr>
        <p:spPr>
          <a:xfrm>
            <a:off x="6222492" y="2057400"/>
            <a:ext cx="2457450" cy="2514600"/>
          </a:xfrm>
          <a:prstGeom prst="roundRect">
            <a:avLst>
              <a:gd name="adj" fmla="val 4465"/>
            </a:avLst>
          </a:prstGeom>
          <a:solidFill>
            <a:srgbClr val="10201C"/>
          </a:solidFill>
          <a:ln w="12700">
            <a:solidFill>
              <a:srgbClr val="10201C"/>
            </a:solidFill>
            <a:prstDash val="solid"/>
          </a:ln>
        </p:spPr>
      </p:sp>
      <p:sp>
        <p:nvSpPr>
          <p:cNvPr id="12" name="Text 9"/>
          <p:cNvSpPr txBox="1"/>
          <p:nvPr/>
        </p:nvSpPr>
        <p:spPr>
          <a:xfrm>
            <a:off x="6496812" y="2331720"/>
            <a:ext cx="1908810" cy="731520"/>
          </a:xfrm>
          <a:prstGeom prst="rect">
            <a:avLst/>
          </a:prstGeom>
          <a:noFill/>
          <a:ln/>
        </p:spPr>
        <p:txBody>
          <a:bodyPr wrap="square" lIns="0" tIns="0" rIns="0" bIns="0" rtlCol="0" anchor="t"/>
          <a:lstStyle/>
          <a:p>
            <a:pPr marL="0" indent="0">
              <a:buNone/>
            </a:pPr>
            <a:r>
              <a:rPr lang="en-US" sz="4000" b="1" dirty="0">
                <a:solidFill>
                  <a:srgbClr val="E3A64A"/>
                </a:solidFill>
                <a:latin typeface="Arial" pitchFamily="34" charset="0"/>
                <a:ea typeface="Arial" pitchFamily="34" charset="-122"/>
                <a:cs typeface="Arial" pitchFamily="34" charset="-120"/>
              </a:rPr>
              <a:t>−50%</a:t>
            </a:r>
            <a:endParaRPr lang="en-US" sz="4000" dirty="0"/>
          </a:p>
        </p:txBody>
      </p:sp>
      <p:sp>
        <p:nvSpPr>
          <p:cNvPr id="13" name="Text 10"/>
          <p:cNvSpPr txBox="1"/>
          <p:nvPr/>
        </p:nvSpPr>
        <p:spPr>
          <a:xfrm>
            <a:off x="6496812" y="3200400"/>
            <a:ext cx="1908810" cy="1234440"/>
          </a:xfrm>
          <a:prstGeom prst="rect">
            <a:avLst/>
          </a:prstGeom>
          <a:noFill/>
          <a:ln/>
        </p:spPr>
        <p:txBody>
          <a:bodyPr wrap="square" lIns="0" tIns="0" rIns="0" bIns="0" rtlCol="0" anchor="t"/>
          <a:lstStyle/>
          <a:p>
            <a:pPr marL="0" indent="0">
              <a:buNone/>
            </a:pPr>
            <a:r>
              <a:rPr lang="en-US" sz="1500" dirty="0">
                <a:solidFill>
                  <a:srgbClr val="C4D6CF"/>
                </a:solidFill>
                <a:latin typeface="Calibri" pitchFamily="34" charset="0"/>
                <a:ea typeface="Calibri" pitchFamily="34" charset="-122"/>
                <a:cs typeface="Calibri" pitchFamily="34" charset="-120"/>
              </a:rPr>
              <a:t>CBAM hisobotini tayyorlash vaqti, pilotdagi holatga nisbatan</a:t>
            </a:r>
            <a:endParaRPr lang="en-US" sz="1500" dirty="0"/>
          </a:p>
        </p:txBody>
      </p:sp>
      <p:sp>
        <p:nvSpPr>
          <p:cNvPr id="14" name="Maqsad 4"/>
          <p:cNvSpPr/>
          <p:nvPr/>
        </p:nvSpPr>
        <p:spPr>
          <a:xfrm>
            <a:off x="8926830" y="2057400"/>
            <a:ext cx="2457450" cy="2514600"/>
          </a:xfrm>
          <a:prstGeom prst="roundRect">
            <a:avLst>
              <a:gd name="adj" fmla="val 4465"/>
            </a:avLst>
          </a:prstGeom>
          <a:solidFill>
            <a:srgbClr val="FFFFFF"/>
          </a:solidFill>
          <a:ln w="9525">
            <a:solidFill>
              <a:srgbClr val="D6E0DB"/>
            </a:solidFill>
            <a:prstDash val="solid"/>
          </a:ln>
        </p:spPr>
      </p:sp>
      <p:sp>
        <p:nvSpPr>
          <p:cNvPr id="15" name="Text 12"/>
          <p:cNvSpPr txBox="1"/>
          <p:nvPr/>
        </p:nvSpPr>
        <p:spPr>
          <a:xfrm>
            <a:off x="9201150" y="2331720"/>
            <a:ext cx="1908810" cy="731520"/>
          </a:xfrm>
          <a:prstGeom prst="rect">
            <a:avLst/>
          </a:prstGeom>
          <a:noFill/>
          <a:ln/>
        </p:spPr>
        <p:txBody>
          <a:bodyPr wrap="square" lIns="0" tIns="0" rIns="0" bIns="0" rtlCol="0" anchor="t"/>
          <a:lstStyle/>
          <a:p>
            <a:pPr marL="0" indent="0">
              <a:buNone/>
            </a:pPr>
            <a:r>
              <a:rPr lang="en-US" sz="4000" b="1" dirty="0">
                <a:solidFill>
                  <a:srgbClr val="0B7A5F"/>
                </a:solidFill>
                <a:latin typeface="Arial" pitchFamily="34" charset="0"/>
                <a:ea typeface="Arial" pitchFamily="34" charset="-122"/>
                <a:cs typeface="Arial" pitchFamily="34" charset="-120"/>
              </a:rPr>
              <a:t>99,5%</a:t>
            </a:r>
            <a:endParaRPr lang="en-US" sz="4000" dirty="0"/>
          </a:p>
        </p:txBody>
      </p:sp>
      <p:sp>
        <p:nvSpPr>
          <p:cNvPr id="16" name="Text 13"/>
          <p:cNvSpPr txBox="1"/>
          <p:nvPr/>
        </p:nvSpPr>
        <p:spPr>
          <a:xfrm>
            <a:off x="9201150" y="3200400"/>
            <a:ext cx="1908810" cy="1234440"/>
          </a:xfrm>
          <a:prstGeom prst="rect">
            <a:avLst/>
          </a:prstGeom>
          <a:noFill/>
          <a:ln/>
        </p:spPr>
        <p:txBody>
          <a:bodyPr wrap="square" lIns="0" tIns="0" rIns="0" bIns="0" rtlCol="0" anchor="t"/>
          <a:lstStyle/>
          <a:p>
            <a:pPr marL="0" indent="0">
              <a:buNone/>
            </a:pPr>
            <a:r>
              <a:rPr lang="en-US" sz="1500" dirty="0">
                <a:solidFill>
                  <a:srgbClr val="3E4F49"/>
                </a:solidFill>
                <a:latin typeface="Calibri" pitchFamily="34" charset="0"/>
                <a:ea typeface="Calibri" pitchFamily="34" charset="-122"/>
                <a:cs typeface="Calibri" pitchFamily="34" charset="-120"/>
              </a:rPr>
              <a:t>platforma ish vaqtidagi mavjudligi</a:t>
            </a:r>
            <a:endParaRPr lang="en-US" sz="1500" dirty="0"/>
          </a:p>
        </p:txBody>
      </p:sp>
      <p:sp>
        <p:nvSpPr>
          <p:cNvPr id="17" name="Text 14"/>
          <p:cNvSpPr txBox="1"/>
          <p:nvPr/>
        </p:nvSpPr>
        <p:spPr>
          <a:xfrm>
            <a:off x="813816" y="4937760"/>
            <a:ext cx="9144000" cy="731520"/>
          </a:xfrm>
          <a:prstGeom prst="rect">
            <a:avLst/>
          </a:prstGeom>
          <a:noFill/>
          <a:ln/>
        </p:spPr>
        <p:txBody>
          <a:bodyPr wrap="square" lIns="0" tIns="0" rIns="0" bIns="0" rtlCol="0" anchor="t"/>
          <a:lstStyle/>
          <a:p>
            <a:pPr marL="0" indent="0">
              <a:buNone/>
            </a:pPr>
            <a:r>
              <a:rPr lang="en-US" sz="1600" dirty="0">
                <a:solidFill>
                  <a:srgbClr val="3E4F49"/>
                </a:solidFill>
                <a:latin typeface="Calibri" pitchFamily="34" charset="0"/>
                <a:ea typeface="Calibri" pitchFamily="34" charset="-122"/>
                <a:cs typeface="Calibri" pitchFamily="34" charset="-120"/>
              </a:rPr>
              <a:t>Har yili e’lon qilinadi: CBAM bo‘yicha chegirilgan summa, byudjetga tushgan milliy uglerod to‘lovi va platforma tavsiyalari bilan kamaytirilgan emissiyalar.</a:t>
            </a:r>
            <a:endParaRPr lang="en-US" sz="1600" dirty="0"/>
          </a:p>
        </p:txBody>
      </p:sp>
      <p:sp>
        <p:nvSpPr>
          <p:cNvPr id="18" name="Izoh"/>
          <p:cNvSpPr txBox="1"/>
          <p:nvPr/>
        </p:nvSpPr>
        <p:spPr>
          <a:xfrm>
            <a:off x="813816" y="6355080"/>
            <a:ext cx="9875520" cy="274320"/>
          </a:xfrm>
          <a:prstGeom prst="rect">
            <a:avLst/>
          </a:prstGeom>
          <a:noFill/>
          <a:ln/>
        </p:spPr>
        <p:txBody>
          <a:bodyPr wrap="square" lIns="0" tIns="0" rIns="0" bIns="0" rtlCol="0" anchor="ctr"/>
          <a:lstStyle/>
          <a:p>
            <a:pPr marL="0" indent="0">
              <a:buNone/>
            </a:pPr>
            <a:r>
              <a:rPr lang="en-US" sz="1100" dirty="0">
                <a:solidFill>
                  <a:srgbClr val="6B7C76"/>
                </a:solidFill>
                <a:latin typeface="Calibri" pitchFamily="34" charset="0"/>
                <a:ea typeface="Calibri" pitchFamily="34" charset="-122"/>
                <a:cs typeface="Calibri" pitchFamily="34" charset="-120"/>
              </a:rPr>
              <a:t>Texnik topshiriq, 17-bo‘lim</a:t>
            </a:r>
            <a:endParaRPr lang="en-US" sz="11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B7C76"/>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2FB38F"/>
                </a:solidFill>
                <a:latin typeface="Calibri" pitchFamily="34" charset="0"/>
                <a:ea typeface="Calibri" pitchFamily="34" charset="-122"/>
                <a:cs typeface="Calibri" pitchFamily="34" charset="-120"/>
              </a:rPr>
              <a:t>QONUNCHILIK</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EEF3EF"/>
                </a:solidFill>
                <a:latin typeface="Arial" pitchFamily="34" charset="0"/>
                <a:ea typeface="Arial" pitchFamily="34" charset="-122"/>
                <a:cs typeface="Arial" pitchFamily="34" charset="-120"/>
              </a:rPr>
              <a:t>Platforma va Soliq kodeksi birga ishlaydi</a:t>
            </a:r>
            <a:endParaRPr lang="en-US" sz="3200" dirty="0"/>
          </a:p>
        </p:txBody>
      </p:sp>
      <p:sp>
        <p:nvSpPr>
          <p:cNvPr id="5" name="Qator chizig‘i 1"/>
          <p:cNvSpPr/>
          <p:nvPr/>
        </p:nvSpPr>
        <p:spPr>
          <a:xfrm>
            <a:off x="813816" y="2057400"/>
            <a:ext cx="10570464" cy="0"/>
          </a:xfrm>
          <a:prstGeom prst="line">
            <a:avLst/>
          </a:prstGeom>
          <a:noFill/>
          <a:ln w="12700">
            <a:solidFill>
              <a:srgbClr val="2E4A42"/>
            </a:solidFill>
            <a:prstDash val="solid"/>
          </a:ln>
        </p:spPr>
      </p:sp>
      <p:sp>
        <p:nvSpPr>
          <p:cNvPr id="6" name="Text 3"/>
          <p:cNvSpPr txBox="1"/>
          <p:nvPr/>
        </p:nvSpPr>
        <p:spPr>
          <a:xfrm>
            <a:off x="813816" y="2286000"/>
            <a:ext cx="3566160" cy="822960"/>
          </a:xfrm>
          <a:prstGeom prst="rect">
            <a:avLst/>
          </a:prstGeom>
          <a:noFill/>
          <a:ln/>
        </p:spPr>
        <p:txBody>
          <a:bodyPr wrap="square" lIns="0" tIns="0" rIns="0" bIns="0" rtlCol="0" anchor="t"/>
          <a:lstStyle/>
          <a:p>
            <a:pPr marL="0" indent="0">
              <a:buNone/>
            </a:pPr>
            <a:r>
              <a:rPr lang="en-US" sz="2000" b="1" dirty="0">
                <a:solidFill>
                  <a:srgbClr val="EEF3EF"/>
                </a:solidFill>
                <a:latin typeface="Calibri" pitchFamily="34" charset="0"/>
                <a:ea typeface="Calibri" pitchFamily="34" charset="-122"/>
                <a:cs typeface="Calibri" pitchFamily="34" charset="-120"/>
              </a:rPr>
              <a:t>Uglerod solig‘i bobi</a:t>
            </a:r>
            <a:endParaRPr lang="en-US" sz="2000" dirty="0"/>
          </a:p>
        </p:txBody>
      </p:sp>
      <p:sp>
        <p:nvSpPr>
          <p:cNvPr id="7" name="Text 4"/>
          <p:cNvSpPr txBox="1"/>
          <p:nvPr/>
        </p:nvSpPr>
        <p:spPr>
          <a:xfrm>
            <a:off x="4745736" y="2286000"/>
            <a:ext cx="6638544" cy="868680"/>
          </a:xfrm>
          <a:prstGeom prst="rect">
            <a:avLst/>
          </a:prstGeom>
          <a:noFill/>
          <a:ln/>
        </p:spPr>
        <p:txBody>
          <a:bodyPr wrap="square" lIns="0" tIns="0" rIns="0" bIns="0" rtlCol="0" anchor="t"/>
          <a:lstStyle/>
          <a:p>
            <a:pPr marL="0" indent="0">
              <a:buNone/>
            </a:pPr>
            <a:r>
              <a:rPr lang="en-US" sz="1600" dirty="0">
                <a:solidFill>
                  <a:srgbClr val="B9CCC5"/>
                </a:solidFill>
                <a:latin typeface="Calibri" pitchFamily="34" charset="0"/>
                <a:ea typeface="Calibri" pitchFamily="34" charset="-122"/>
                <a:cs typeface="Calibri" pitchFamily="34" charset="-120"/>
              </a:rPr>
              <a:t>Taklif: 1 t CO₂e uchun bazaviy hisoblash miqdorining 10% idan boshlab, yiliga 10 foiz punktga oshirish. Platforma soliq bazasini MRV ma’lumotidan hisoblaydi.</a:t>
            </a:r>
            <a:endParaRPr lang="en-US" sz="1600" dirty="0"/>
          </a:p>
        </p:txBody>
      </p:sp>
      <p:sp>
        <p:nvSpPr>
          <p:cNvPr id="8" name="Qator chizig‘i 2"/>
          <p:cNvSpPr/>
          <p:nvPr/>
        </p:nvSpPr>
        <p:spPr>
          <a:xfrm>
            <a:off x="813816" y="3246120"/>
            <a:ext cx="10570464" cy="0"/>
          </a:xfrm>
          <a:prstGeom prst="line">
            <a:avLst/>
          </a:prstGeom>
          <a:noFill/>
          <a:ln w="12700">
            <a:solidFill>
              <a:srgbClr val="2E4A42"/>
            </a:solidFill>
            <a:prstDash val="solid"/>
          </a:ln>
        </p:spPr>
      </p:sp>
      <p:sp>
        <p:nvSpPr>
          <p:cNvPr id="9" name="Text 6"/>
          <p:cNvSpPr txBox="1"/>
          <p:nvPr/>
        </p:nvSpPr>
        <p:spPr>
          <a:xfrm>
            <a:off x="813816" y="3474720"/>
            <a:ext cx="3566160" cy="822960"/>
          </a:xfrm>
          <a:prstGeom prst="rect">
            <a:avLst/>
          </a:prstGeom>
          <a:noFill/>
          <a:ln/>
        </p:spPr>
        <p:txBody>
          <a:bodyPr wrap="square" lIns="0" tIns="0" rIns="0" bIns="0" rtlCol="0" anchor="t"/>
          <a:lstStyle/>
          <a:p>
            <a:pPr marL="0" indent="0">
              <a:buNone/>
            </a:pPr>
            <a:r>
              <a:rPr lang="en-US" sz="2000" b="1" dirty="0">
                <a:solidFill>
                  <a:srgbClr val="EEF3EF"/>
                </a:solidFill>
                <a:latin typeface="Calibri" pitchFamily="34" charset="0"/>
                <a:ea typeface="Calibri" pitchFamily="34" charset="-122"/>
                <a:cs typeface="Calibri" pitchFamily="34" charset="-120"/>
              </a:rPr>
              <a:t>Ekologik soliq</a:t>
            </a:r>
            <a:endParaRPr lang="en-US" sz="2000" dirty="0"/>
          </a:p>
        </p:txBody>
      </p:sp>
      <p:sp>
        <p:nvSpPr>
          <p:cNvPr id="10" name="Text 7"/>
          <p:cNvSpPr txBox="1"/>
          <p:nvPr/>
        </p:nvSpPr>
        <p:spPr>
          <a:xfrm>
            <a:off x="4745736" y="3474720"/>
            <a:ext cx="6638544" cy="868680"/>
          </a:xfrm>
          <a:prstGeom prst="rect">
            <a:avLst/>
          </a:prstGeom>
          <a:noFill/>
          <a:ln/>
        </p:spPr>
        <p:txBody>
          <a:bodyPr wrap="square" lIns="0" tIns="0" rIns="0" bIns="0" rtlCol="0" anchor="t"/>
          <a:lstStyle/>
          <a:p>
            <a:pPr marL="0" indent="0">
              <a:buNone/>
            </a:pPr>
            <a:r>
              <a:rPr lang="en-US" sz="1600" dirty="0">
                <a:solidFill>
                  <a:srgbClr val="B9CCC5"/>
                </a:solidFill>
                <a:latin typeface="Calibri" pitchFamily="34" charset="0"/>
                <a:ea typeface="Calibri" pitchFamily="34" charset="-122"/>
                <a:cs typeface="Calibri" pitchFamily="34" charset="-120"/>
              </a:rPr>
              <a:t>Ifloslantirish to‘lovlarini Kodeksga soliq sifatida o‘tkazish, “ifloslantiruvchi to‘laydi” tamoyili</a:t>
            </a:r>
            <a:endParaRPr lang="en-US" sz="1600" dirty="0"/>
          </a:p>
        </p:txBody>
      </p:sp>
      <p:sp>
        <p:nvSpPr>
          <p:cNvPr id="11" name="Qator chizig‘i 3"/>
          <p:cNvSpPr/>
          <p:nvPr/>
        </p:nvSpPr>
        <p:spPr>
          <a:xfrm>
            <a:off x="813816" y="4434840"/>
            <a:ext cx="10570464" cy="0"/>
          </a:xfrm>
          <a:prstGeom prst="line">
            <a:avLst/>
          </a:prstGeom>
          <a:noFill/>
          <a:ln w="12700">
            <a:solidFill>
              <a:srgbClr val="2E4A42"/>
            </a:solidFill>
            <a:prstDash val="solid"/>
          </a:ln>
        </p:spPr>
      </p:sp>
      <p:sp>
        <p:nvSpPr>
          <p:cNvPr id="12" name="Text 9"/>
          <p:cNvSpPr txBox="1"/>
          <p:nvPr/>
        </p:nvSpPr>
        <p:spPr>
          <a:xfrm>
            <a:off x="813816" y="4663440"/>
            <a:ext cx="3566160" cy="822960"/>
          </a:xfrm>
          <a:prstGeom prst="rect">
            <a:avLst/>
          </a:prstGeom>
          <a:noFill/>
          <a:ln/>
        </p:spPr>
        <p:txBody>
          <a:bodyPr wrap="square" lIns="0" tIns="0" rIns="0" bIns="0" rtlCol="0" anchor="t"/>
          <a:lstStyle/>
          <a:p>
            <a:pPr marL="0" indent="0">
              <a:buNone/>
            </a:pPr>
            <a:r>
              <a:rPr lang="en-US" sz="2000" b="1" dirty="0">
                <a:solidFill>
                  <a:srgbClr val="EEF3EF"/>
                </a:solidFill>
                <a:latin typeface="Calibri" pitchFamily="34" charset="0"/>
                <a:ea typeface="Calibri" pitchFamily="34" charset="-122"/>
                <a:cs typeface="Calibri" pitchFamily="34" charset="-120"/>
              </a:rPr>
              <a:t>“Green Building Material – Uzbekistan”</a:t>
            </a:r>
            <a:endParaRPr lang="en-US" sz="2000" dirty="0"/>
          </a:p>
        </p:txBody>
      </p:sp>
      <p:sp>
        <p:nvSpPr>
          <p:cNvPr id="13" name="Text 10"/>
          <p:cNvSpPr txBox="1"/>
          <p:nvPr/>
        </p:nvSpPr>
        <p:spPr>
          <a:xfrm>
            <a:off x="4745736" y="4663440"/>
            <a:ext cx="6638544" cy="868680"/>
          </a:xfrm>
          <a:prstGeom prst="rect">
            <a:avLst/>
          </a:prstGeom>
          <a:noFill/>
          <a:ln/>
        </p:spPr>
        <p:txBody>
          <a:bodyPr wrap="square" lIns="0" tIns="0" rIns="0" bIns="0" rtlCol="0" anchor="t"/>
          <a:lstStyle/>
          <a:p>
            <a:pPr marL="0" indent="0">
              <a:buNone/>
            </a:pPr>
            <a:r>
              <a:rPr lang="en-US" sz="1600" dirty="0">
                <a:solidFill>
                  <a:srgbClr val="B9CCC5"/>
                </a:solidFill>
                <a:latin typeface="Calibri" pitchFamily="34" charset="0"/>
                <a:ea typeface="Calibri" pitchFamily="34" charset="-122"/>
                <a:cs typeface="Calibri" pitchFamily="34" charset="-120"/>
              </a:rPr>
              <a:t>Energiya samarador qurilish materiallari uchun milliy belgi; platformadagi emissiya ma’lumoti uni berish mezoni bo‘ladi</a:t>
            </a:r>
            <a:endParaRPr lang="en-US" sz="1600" dirty="0"/>
          </a:p>
        </p:txBody>
      </p:sp>
      <p:sp>
        <p:nvSpPr>
          <p:cNvPr id="14" name="Qator chizig‘i 4"/>
          <p:cNvSpPr/>
          <p:nvPr/>
        </p:nvSpPr>
        <p:spPr>
          <a:xfrm>
            <a:off x="813816" y="5623560"/>
            <a:ext cx="10570464" cy="0"/>
          </a:xfrm>
          <a:prstGeom prst="line">
            <a:avLst/>
          </a:prstGeom>
          <a:noFill/>
          <a:ln w="12700">
            <a:solidFill>
              <a:srgbClr val="2E4A42"/>
            </a:solidFill>
            <a:prstDash val="solid"/>
          </a:ln>
        </p:spPr>
      </p:sp>
      <p:sp>
        <p:nvSpPr>
          <p:cNvPr id="15" name="Izoh"/>
          <p:cNvSpPr txBox="1"/>
          <p:nvPr/>
        </p:nvSpPr>
        <p:spPr>
          <a:xfrm>
            <a:off x="813816" y="6355080"/>
            <a:ext cx="9875520" cy="274320"/>
          </a:xfrm>
          <a:prstGeom prst="rect">
            <a:avLst/>
          </a:prstGeom>
          <a:noFill/>
          <a:ln/>
        </p:spPr>
        <p:txBody>
          <a:bodyPr wrap="square" lIns="0" tIns="0" rIns="0" bIns="0" rtlCol="0" anchor="ctr"/>
          <a:lstStyle/>
          <a:p>
            <a:pPr marL="0" indent="0">
              <a:buNone/>
            </a:pPr>
            <a:r>
              <a:rPr lang="en-US" sz="1100" dirty="0">
                <a:solidFill>
                  <a:srgbClr val="7F978F"/>
                </a:solidFill>
                <a:latin typeface="Calibri" pitchFamily="34" charset="0"/>
                <a:ea typeface="Calibri" pitchFamily="34" charset="-122"/>
                <a:cs typeface="Calibri" pitchFamily="34" charset="-120"/>
              </a:rPr>
              <a:t>Soliq kodeksini takomillashtirish bo‘yicha takliflar asosida</a:t>
            </a:r>
            <a:endParaRPr lang="en-US" sz="11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F978F"/>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658368"/>
            <a:ext cx="10570464" cy="320040"/>
          </a:xfrm>
          <a:prstGeom prst="rect">
            <a:avLst/>
          </a:prstGeom>
          <a:noFill/>
          <a:ln/>
        </p:spPr>
        <p:txBody>
          <a:bodyPr wrap="square" lIns="0" tIns="0" rIns="0" bIns="0" rtlCol="0" anchor="t"/>
          <a:lstStyle/>
          <a:p>
            <a:pPr marL="0" indent="0">
              <a:buNone/>
            </a:pPr>
            <a:r>
              <a:rPr lang="en-US" sz="1300" b="1" kern="0" spc="300" dirty="0">
                <a:solidFill>
                  <a:srgbClr val="2FB38F"/>
                </a:solidFill>
                <a:latin typeface="Calibri" pitchFamily="34" charset="0"/>
                <a:ea typeface="Calibri" pitchFamily="34" charset="-122"/>
                <a:cs typeface="Calibri" pitchFamily="34" charset="-120"/>
              </a:rPr>
              <a:t>KEYINGI QADAMLAR</a:t>
            </a:r>
            <a:endParaRPr lang="en-US" sz="1300" dirty="0"/>
          </a:p>
        </p:txBody>
      </p:sp>
      <p:sp>
        <p:nvSpPr>
          <p:cNvPr id="3" name="Text 0"/>
          <p:cNvSpPr>
            <a:spLocks noGrp="1"/>
          </p:cNvSpPr>
          <p:nvPr>
            <p:ph type="title" idx="101" hasCustomPrompt="1"/>
          </p:nvPr>
        </p:nvSpPr>
        <p:spPr>
          <a:xfrm>
            <a:off x="813816" y="987552"/>
            <a:ext cx="10570464" cy="822960"/>
          </a:xfrm>
          <a:prstGeom prst="rect">
            <a:avLst/>
          </a:prstGeom>
          <a:noFill/>
          <a:ln/>
        </p:spPr>
        <p:txBody>
          <a:bodyPr wrap="square" lIns="0" tIns="0" rIns="0" bIns="0" rtlCol="0" anchor="t"/>
          <a:lstStyle/>
          <a:p>
            <a:pPr marL="0" indent="0" algn="l">
              <a:buNone/>
            </a:pPr>
            <a:r>
              <a:rPr lang="en-US" sz="3200" b="1" dirty="0">
                <a:solidFill>
                  <a:srgbClr val="EEF3EF"/>
                </a:solidFill>
                <a:latin typeface="Arial" pitchFamily="34" charset="0"/>
                <a:ea typeface="Arial" pitchFamily="34" charset="-122"/>
                <a:cs typeface="Arial" pitchFamily="34" charset="-120"/>
              </a:rPr>
              <a:t>Uchta qaror kerak</a:t>
            </a:r>
            <a:endParaRPr lang="en-US" sz="3200" dirty="0"/>
          </a:p>
        </p:txBody>
      </p:sp>
      <p:sp>
        <p:nvSpPr>
          <p:cNvPr id="5" name="Qaror chizig‘i 1"/>
          <p:cNvSpPr/>
          <p:nvPr/>
        </p:nvSpPr>
        <p:spPr>
          <a:xfrm>
            <a:off x="813816" y="2286000"/>
            <a:ext cx="3322320" cy="0"/>
          </a:xfrm>
          <a:prstGeom prst="line">
            <a:avLst/>
          </a:prstGeom>
          <a:noFill/>
          <a:ln w="31750">
            <a:solidFill>
              <a:srgbClr val="2FB38F"/>
            </a:solidFill>
            <a:prstDash val="solid"/>
          </a:ln>
        </p:spPr>
      </p:sp>
      <p:sp>
        <p:nvSpPr>
          <p:cNvPr id="6" name="Text 3"/>
          <p:cNvSpPr txBox="1"/>
          <p:nvPr/>
        </p:nvSpPr>
        <p:spPr>
          <a:xfrm>
            <a:off x="813816" y="2468880"/>
            <a:ext cx="3322320" cy="365760"/>
          </a:xfrm>
          <a:prstGeom prst="rect">
            <a:avLst/>
          </a:prstGeom>
          <a:noFill/>
          <a:ln/>
        </p:spPr>
        <p:txBody>
          <a:bodyPr wrap="square" lIns="0" tIns="0" rIns="0" bIns="0" rtlCol="0" anchor="t"/>
          <a:lstStyle/>
          <a:p>
            <a:pPr marL="0" indent="0">
              <a:buNone/>
            </a:pPr>
            <a:r>
              <a:rPr lang="en-US" sz="1500" b="1" dirty="0">
                <a:solidFill>
                  <a:srgbClr val="2FB38F"/>
                </a:solidFill>
                <a:latin typeface="Courier New" pitchFamily="34" charset="0"/>
                <a:ea typeface="Courier New" pitchFamily="34" charset="-122"/>
                <a:cs typeface="Courier New" pitchFamily="34" charset="-120"/>
              </a:rPr>
              <a:t>01 · Dekabr 2026</a:t>
            </a:r>
            <a:endParaRPr lang="en-US" sz="1500" dirty="0"/>
          </a:p>
        </p:txBody>
      </p:sp>
      <p:sp>
        <p:nvSpPr>
          <p:cNvPr id="7" name="Text 4"/>
          <p:cNvSpPr txBox="1"/>
          <p:nvPr/>
        </p:nvSpPr>
        <p:spPr>
          <a:xfrm>
            <a:off x="813816" y="2926080"/>
            <a:ext cx="3322320" cy="1097280"/>
          </a:xfrm>
          <a:prstGeom prst="rect">
            <a:avLst/>
          </a:prstGeom>
          <a:noFill/>
          <a:ln/>
        </p:spPr>
        <p:txBody>
          <a:bodyPr wrap="square" lIns="0" tIns="0" rIns="0" bIns="0" rtlCol="0" anchor="t"/>
          <a:lstStyle/>
          <a:p>
            <a:pPr marL="0" indent="0">
              <a:buNone/>
            </a:pPr>
            <a:r>
              <a:rPr lang="en-US" sz="1900" b="1" dirty="0">
                <a:solidFill>
                  <a:srgbClr val="EEF3EF"/>
                </a:solidFill>
                <a:latin typeface="Calibri" pitchFamily="34" charset="0"/>
                <a:ea typeface="Calibri" pitchFamily="34" charset="-122"/>
                <a:cs typeface="Calibri" pitchFamily="34" charset="-120"/>
              </a:rPr>
              <a:t>Buyurtmachi va idoralararo ishchi guruhni belgilash</a:t>
            </a:r>
            <a:endParaRPr lang="en-US" sz="1900" dirty="0"/>
          </a:p>
        </p:txBody>
      </p:sp>
      <p:sp>
        <p:nvSpPr>
          <p:cNvPr id="8" name="Qaror chizig‘i 2"/>
          <p:cNvSpPr/>
          <p:nvPr/>
        </p:nvSpPr>
        <p:spPr>
          <a:xfrm>
            <a:off x="4437888" y="2286000"/>
            <a:ext cx="3322320" cy="0"/>
          </a:xfrm>
          <a:prstGeom prst="line">
            <a:avLst/>
          </a:prstGeom>
          <a:noFill/>
          <a:ln w="31750">
            <a:solidFill>
              <a:srgbClr val="2FB38F"/>
            </a:solidFill>
            <a:prstDash val="solid"/>
          </a:ln>
        </p:spPr>
      </p:sp>
      <p:sp>
        <p:nvSpPr>
          <p:cNvPr id="9" name="Text 6"/>
          <p:cNvSpPr txBox="1"/>
          <p:nvPr/>
        </p:nvSpPr>
        <p:spPr>
          <a:xfrm>
            <a:off x="4437888" y="2468880"/>
            <a:ext cx="3322320" cy="365760"/>
          </a:xfrm>
          <a:prstGeom prst="rect">
            <a:avLst/>
          </a:prstGeom>
          <a:noFill/>
          <a:ln/>
        </p:spPr>
        <p:txBody>
          <a:bodyPr wrap="square" lIns="0" tIns="0" rIns="0" bIns="0" rtlCol="0" anchor="t"/>
          <a:lstStyle/>
          <a:p>
            <a:pPr marL="0" indent="0">
              <a:buNone/>
            </a:pPr>
            <a:r>
              <a:rPr lang="en-US" sz="1500" b="1" dirty="0">
                <a:solidFill>
                  <a:srgbClr val="2FB38F"/>
                </a:solidFill>
                <a:latin typeface="Courier New" pitchFamily="34" charset="0"/>
                <a:ea typeface="Courier New" pitchFamily="34" charset="-122"/>
                <a:cs typeface="Courier New" pitchFamily="34" charset="-120"/>
              </a:rPr>
              <a:t>02 · Pilot</a:t>
            </a:r>
            <a:endParaRPr lang="en-US" sz="1500" dirty="0"/>
          </a:p>
        </p:txBody>
      </p:sp>
      <p:sp>
        <p:nvSpPr>
          <p:cNvPr id="10" name="Text 7"/>
          <p:cNvSpPr txBox="1"/>
          <p:nvPr/>
        </p:nvSpPr>
        <p:spPr>
          <a:xfrm>
            <a:off x="4437888" y="2926080"/>
            <a:ext cx="3322320" cy="1097280"/>
          </a:xfrm>
          <a:prstGeom prst="rect">
            <a:avLst/>
          </a:prstGeom>
          <a:noFill/>
          <a:ln/>
        </p:spPr>
        <p:txBody>
          <a:bodyPr wrap="square" lIns="0" tIns="0" rIns="0" bIns="0" rtlCol="0" anchor="t"/>
          <a:lstStyle/>
          <a:p>
            <a:pPr marL="0" indent="0">
              <a:buNone/>
            </a:pPr>
            <a:r>
              <a:rPr lang="en-US" sz="1900" b="1" dirty="0">
                <a:solidFill>
                  <a:srgbClr val="EEF3EF"/>
                </a:solidFill>
                <a:latin typeface="Calibri" pitchFamily="34" charset="0"/>
                <a:ea typeface="Calibri" pitchFamily="34" charset="-122"/>
                <a:cs typeface="Calibri" pitchFamily="34" charset="-120"/>
              </a:rPr>
              <a:t>Sement, metallurgiya va o‘g‘it sohasidan 5–10 ta korxona</a:t>
            </a:r>
            <a:endParaRPr lang="en-US" sz="1900" dirty="0"/>
          </a:p>
        </p:txBody>
      </p:sp>
      <p:sp>
        <p:nvSpPr>
          <p:cNvPr id="11" name="Qaror chizig‘i 3"/>
          <p:cNvSpPr/>
          <p:nvPr/>
        </p:nvSpPr>
        <p:spPr>
          <a:xfrm>
            <a:off x="8061960" y="2286000"/>
            <a:ext cx="3322320" cy="0"/>
          </a:xfrm>
          <a:prstGeom prst="line">
            <a:avLst/>
          </a:prstGeom>
          <a:noFill/>
          <a:ln w="31750">
            <a:solidFill>
              <a:srgbClr val="E3A64A"/>
            </a:solidFill>
            <a:prstDash val="solid"/>
          </a:ln>
        </p:spPr>
      </p:sp>
      <p:sp>
        <p:nvSpPr>
          <p:cNvPr id="12" name="Text 9"/>
          <p:cNvSpPr txBox="1"/>
          <p:nvPr/>
        </p:nvSpPr>
        <p:spPr>
          <a:xfrm>
            <a:off x="8061960" y="2468880"/>
            <a:ext cx="3322320" cy="365760"/>
          </a:xfrm>
          <a:prstGeom prst="rect">
            <a:avLst/>
          </a:prstGeom>
          <a:noFill/>
          <a:ln/>
        </p:spPr>
        <p:txBody>
          <a:bodyPr wrap="square" lIns="0" tIns="0" rIns="0" bIns="0" rtlCol="0" anchor="t"/>
          <a:lstStyle/>
          <a:p>
            <a:pPr marL="0" indent="0">
              <a:buNone/>
            </a:pPr>
            <a:r>
              <a:rPr lang="en-US" sz="1500" b="1" dirty="0">
                <a:solidFill>
                  <a:srgbClr val="E3A64A"/>
                </a:solidFill>
                <a:latin typeface="Courier New" pitchFamily="34" charset="0"/>
                <a:ea typeface="Courier New" pitchFamily="34" charset="-122"/>
                <a:cs typeface="Courier New" pitchFamily="34" charset="-120"/>
              </a:rPr>
              <a:t>03 · Moliyalashtirish</a:t>
            </a:r>
            <a:endParaRPr lang="en-US" sz="1500" dirty="0"/>
          </a:p>
        </p:txBody>
      </p:sp>
      <p:sp>
        <p:nvSpPr>
          <p:cNvPr id="13" name="Text 10"/>
          <p:cNvSpPr txBox="1"/>
          <p:nvPr/>
        </p:nvSpPr>
        <p:spPr>
          <a:xfrm>
            <a:off x="8061960" y="2926080"/>
            <a:ext cx="3322320" cy="1097280"/>
          </a:xfrm>
          <a:prstGeom prst="rect">
            <a:avLst/>
          </a:prstGeom>
          <a:noFill/>
          <a:ln/>
        </p:spPr>
        <p:txBody>
          <a:bodyPr wrap="square" lIns="0" tIns="0" rIns="0" bIns="0" rtlCol="0" anchor="t"/>
          <a:lstStyle/>
          <a:p>
            <a:pPr marL="0" indent="0">
              <a:buNone/>
            </a:pPr>
            <a:r>
              <a:rPr lang="en-US" sz="1900" b="1" dirty="0">
                <a:solidFill>
                  <a:srgbClr val="EEF3EF"/>
                </a:solidFill>
                <a:latin typeface="Calibri" pitchFamily="34" charset="0"/>
                <a:ea typeface="Calibri" pitchFamily="34" charset="-122"/>
                <a:cs typeface="Calibri" pitchFamily="34" charset="-120"/>
              </a:rPr>
              <a:t>Byudjet, xalqaro moliya institutlari granti yoki DXSh</a:t>
            </a:r>
            <a:endParaRPr lang="en-US" sz="1900" dirty="0"/>
          </a:p>
        </p:txBody>
      </p:sp>
      <p:sp>
        <p:nvSpPr>
          <p:cNvPr id="14" name="Text 11"/>
          <p:cNvSpPr txBox="1"/>
          <p:nvPr/>
        </p:nvSpPr>
        <p:spPr>
          <a:xfrm>
            <a:off x="813816" y="4892040"/>
            <a:ext cx="4572000" cy="914400"/>
          </a:xfrm>
          <a:prstGeom prst="rect">
            <a:avLst/>
          </a:prstGeom>
          <a:noFill/>
          <a:ln/>
        </p:spPr>
        <p:txBody>
          <a:bodyPr wrap="square" lIns="0" tIns="0" rIns="0" bIns="0" rtlCol="0" anchor="b"/>
          <a:lstStyle/>
          <a:p>
            <a:pPr marL="0" indent="0">
              <a:buNone/>
            </a:pPr>
            <a:r>
              <a:rPr lang="en-US" sz="5400" b="1" dirty="0">
                <a:solidFill>
                  <a:srgbClr val="EEF3EF"/>
                </a:solidFill>
                <a:latin typeface="Arial" pitchFamily="34" charset="0"/>
                <a:ea typeface="Arial" pitchFamily="34" charset="-122"/>
                <a:cs typeface="Arial" pitchFamily="34" charset="-120"/>
              </a:rPr>
              <a:t>Rahmat!</a:t>
            </a:r>
            <a:endParaRPr lang="en-US" sz="5400" dirty="0"/>
          </a:p>
        </p:txBody>
      </p:sp>
      <p:sp>
        <p:nvSpPr>
          <p:cNvPr id="15" name="Text 12"/>
          <p:cNvSpPr txBox="1"/>
          <p:nvPr/>
        </p:nvSpPr>
        <p:spPr>
          <a:xfrm>
            <a:off x="6757416" y="5349240"/>
            <a:ext cx="4626864" cy="457200"/>
          </a:xfrm>
          <a:prstGeom prst="rect">
            <a:avLst/>
          </a:prstGeom>
          <a:noFill/>
          <a:ln/>
        </p:spPr>
        <p:txBody>
          <a:bodyPr wrap="square" lIns="0" tIns="0" rIns="0" bIns="0" rtlCol="0" anchor="b"/>
          <a:lstStyle/>
          <a:p>
            <a:pPr marL="0" indent="0" algn="r">
              <a:buNone/>
            </a:pPr>
            <a:r>
              <a:rPr lang="en-US" sz="1600" dirty="0">
                <a:solidFill>
                  <a:srgbClr val="B9CCC5"/>
                </a:solidFill>
                <a:latin typeface="Calibri" pitchFamily="34" charset="0"/>
                <a:ea typeface="Calibri" pitchFamily="34" charset="-122"/>
                <a:cs typeface="Calibri" pitchFamily="34" charset="-120"/>
              </a:rPr>
              <a:t>Savollar va muhokama uchun tayyorman</a:t>
            </a:r>
            <a:endParaRPr lang="en-US" sz="1600" dirty="0"/>
          </a:p>
        </p:txBody>
      </p:sp>
      <p:sp>
        <p:nvSpPr>
          <p:cNvPr id="25" name="Slide Number Placeholder 0"/>
          <p:cNvSpPr>
            <a:spLocks noGrp="1"/>
          </p:cNvSpPr>
          <p:nvPr>
            <p:ph type="sldNum" sz="quarter" idx="4294967295"/>
          </p:nvPr>
        </p:nvSpPr>
        <p:spPr>
          <a:xfrm>
            <a:off x="10972800" y="635508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7F978F"/>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UzCarbon">
  <a:themeElements>
    <a:clrScheme name="UzCarbon">
      <a:dk1>
        <a:srgbClr val="14241F"/>
      </a:dk1>
      <a:lt1>
        <a:srgbClr val="F3F6F3"/>
      </a:lt1>
      <a:dk2>
        <a:srgbClr val="10201C"/>
      </a:dk2>
      <a:lt2>
        <a:srgbClr val="E1ECE7"/>
      </a:lt2>
      <a:accent1>
        <a:srgbClr val="0B7A5F"/>
      </a:accent1>
      <a:accent2>
        <a:srgbClr val="2FB38F"/>
      </a:accent2>
      <a:accent3>
        <a:srgbClr val="E3A64A"/>
      </a:accent3>
      <a:accent4>
        <a:srgbClr val="9A6412"/>
      </a:accent4>
      <a:accent5>
        <a:srgbClr val="5C6E68"/>
      </a:accent5>
      <a:accent6>
        <a:srgbClr val="B9CCC5"/>
      </a:accent6>
      <a:hlink>
        <a:srgbClr val="0B7A5F"/>
      </a:hlink>
      <a:folHlink>
        <a:srgbClr val="5C6E68"/>
      </a:folHlink>
    </a:clrScheme>
    <a:fontScheme name="UzCarb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2047</Words>
  <Application>Microsoft Office PowerPoint</Application>
  <PresentationFormat>Широкоэкранный</PresentationFormat>
  <Paragraphs>237</Paragraphs>
  <Slides>14</Slides>
  <Notes>14</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14</vt:i4>
      </vt:variant>
    </vt:vector>
  </HeadingPairs>
  <TitlesOfParts>
    <vt:vector size="18" baseType="lpstr">
      <vt:lpstr>Arial</vt:lpstr>
      <vt:lpstr>Calibri</vt:lpstr>
      <vt:lpstr>Courier New</vt:lpstr>
      <vt:lpstr>UzCarbon</vt:lpstr>
      <vt:lpstr>Презентация PowerPoint</vt:lpstr>
      <vt:lpstr>CBAM 2026-yildan to‘liq kuchga kirdi</vt:lpstr>
      <vt:lpstr>Ma’lumoti yo‘q eksportyor ikki marta yo‘qotadi</vt:lpstr>
      <vt:lpstr>To‘rt vazifa bitta platformada</vt:lpstr>
      <vt:lpstr>Ma’lumotdan hisobotgacha</vt:lpstr>
      <vt:lpstr>Har bir raqamning formulasi bor</vt:lpstr>
      <vt:lpstr>Oltita AI komponenti</vt:lpstr>
      <vt:lpstr>Ishlaydigan mahsulot tayyor</vt:lpstr>
      <vt:lpstr>Uch korxona, olti oy</vt:lpstr>
      <vt:lpstr>Milliy narx oshsa, pul O‘zbekistonda qoladi</vt:lpstr>
      <vt:lpstr>2027-yil oxirida ishga tushadi</vt:lpstr>
      <vt:lpstr>O‘lchanadigan maqsadlar</vt:lpstr>
      <vt:lpstr>Platforma va Soliq kodeksi birga ishlaydi</vt:lpstr>
      <vt:lpstr>Uchta qaror kerak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UzCarbon taqdimoti</dc:title>
  <dc:subject>PptxGenJS Presentation</dc:subject>
  <dc:creator>UzCarbon loyihasi</dc:creator>
  <cp:lastModifiedBy>Moydinova Zilola Voxid qizi</cp:lastModifiedBy>
  <cp:revision>1</cp:revision>
  <dcterms:created xsi:type="dcterms:W3CDTF">2026-10-14T07:28:51Z</dcterms:created>
  <dcterms:modified xsi:type="dcterms:W3CDTF">2026-10-14T07:50:07Z</dcterms:modified>
</cp:coreProperties>
</file>